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Calibri"/>
              </a:defRPr>
            </a:pPr>
            <a:r>
              <a:rPr sz="1300" b="0" i="0" u="none" strike="noStrike">
                <a:solidFill>
                  <a:srgbClr val="FFFFFF"/>
                </a:solidFill>
                <a:latin typeface="Calibri"/>
              </a:rPr>
              <a:t>Same lane markings, consecutive frames</a:t>
            </a:r>
          </a:p>
        </c:rich>
      </c:tx>
      <c:layout/>
      <c:overlay val="0"/>
    </c:title>
    <c:autoTitleDeleted val="0"/>
    <c:plotArea>
      <c:layout/>
      <c:lineChart>
        <c:varyColors val="0"/>
        <c:ser>
          <c:idx val="0"/>
          <c:order val="0"/>
          <c:tx>
            <c:strRef>
              <c:f>Sheet1!$B$1</c:f>
              <c:strCache>
                <c:ptCount val="1"/>
                <c:pt idx="0">
                  <c:v>Measured elongation of lane dashes</c:v>
                </c:pt>
              </c:strCache>
            </c:strRef>
          </c:tx>
          <c:spPr>
            <a:solidFill>
              <a:srgbClr val="F2C012"/>
            </a:solidFill>
            <a:ln w="25400" cap="flat">
              <a:solidFill>
                <a:srgbClr val="F2C01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2C012"/>
              </a:solidFill>
              <a:ln w="9525" cap="flat">
                <a:solidFill>
                  <a:srgbClr val="F2C012"/>
                </a:solidFill>
                <a:prstDash val="solid"/>
                <a:round/>
              </a:ln>
              <a:effectLst/>
            </c:spPr>
          </c:marker>
          <c:cat>
            <c:multiLvlStrRef>
              <c:f>Sheet1!$A$2:$A$17</c:f>
              <c:multiLvlStrCache>
                <c:ptCount val="16"/>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lvl>
              </c:multiLvlStrCache>
            </c:multiLvlStrRef>
          </c:cat>
          <c:val>
            <c:numRef>
              <c:f>Sheet1!$B$2:$B$17</c:f>
              <c:numCache>
                <c:formatCode>General</c:formatCode>
                <c:ptCount val="16"/>
                <c:pt idx="0">
                  <c:v>1.6</c:v>
                </c:pt>
                <c:pt idx="1">
                  <c:v>2</c:v>
                </c:pt>
                <c:pt idx="2">
                  <c:v>2.3</c:v>
                </c:pt>
                <c:pt idx="3">
                  <c:v>1.2</c:v>
                </c:pt>
                <c:pt idx="4">
                  <c:v>1.5</c:v>
                </c:pt>
                <c:pt idx="5">
                  <c:v>1.3</c:v>
                </c:pt>
                <c:pt idx="6">
                  <c:v>1.4</c:v>
                </c:pt>
                <c:pt idx="7">
                  <c:v>1.7</c:v>
                </c:pt>
                <c:pt idx="8">
                  <c:v>2.2</c:v>
                </c:pt>
                <c:pt idx="9">
                  <c:v>2.4</c:v>
                </c:pt>
                <c:pt idx="10">
                  <c:v>2.3</c:v>
                </c:pt>
                <c:pt idx="11">
                  <c:v>1.4</c:v>
                </c:pt>
                <c:pt idx="12">
                  <c:v>1.6</c:v>
                </c:pt>
                <c:pt idx="13">
                  <c:v>1.1</c:v>
                </c:pt>
                <c:pt idx="14">
                  <c:v>1.1</c:v>
                </c:pt>
                <c:pt idx="15">
                  <c:v>1.3</c:v>
                </c:pt>
              </c:numCache>
            </c:numRef>
          </c:val>
          <c:smooth val="0"/>
        </c:ser>
        <c:ser>
          <c:idx val="1"/>
          <c:order val="1"/>
          <c:tx>
            <c:strRef>
              <c:f>Sheet1!$C$1</c:f>
              <c:strCache>
                <c:ptCount val="1"/>
                <c:pt idx="0">
                  <c:v>Decision threshold</c:v>
                </c:pt>
              </c:strCache>
            </c:strRef>
          </c:tx>
          <c:spPr>
            <a:solidFill>
              <a:srgbClr val="D93A2E"/>
            </a:solidFill>
            <a:ln w="25400" cap="flat">
              <a:solidFill>
                <a:srgbClr val="D93A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D93A2E"/>
              </a:solidFill>
              <a:ln w="9525" cap="flat">
                <a:solidFill>
                  <a:srgbClr val="D93A2E"/>
                </a:solidFill>
                <a:prstDash val="solid"/>
                <a:round/>
              </a:ln>
              <a:effectLst/>
            </c:spPr>
          </c:marker>
          <c:cat>
            <c:multiLvlStrRef>
              <c:f>Sheet1!$A$2:$A$17</c:f>
              <c:multiLvlStrCache>
                <c:ptCount val="16"/>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lvl>
              </c:multiLvlStrCache>
            </c:multiLvlStrRef>
          </c:cat>
          <c:val>
            <c:numRef>
              <c:f>Sheet1!$C$2:$C$17</c:f>
              <c:numCache>
                <c:formatCode>General</c:formatCode>
                <c:ptCount val="16"/>
                <c:pt idx="0">
                  <c:v>1.9</c:v>
                </c:pt>
                <c:pt idx="1">
                  <c:v>1.9</c:v>
                </c:pt>
                <c:pt idx="2">
                  <c:v>1.9</c:v>
                </c:pt>
                <c:pt idx="3">
                  <c:v>1.9</c:v>
                </c:pt>
                <c:pt idx="4">
                  <c:v>1.9</c:v>
                </c:pt>
                <c:pt idx="5">
                  <c:v>1.9</c:v>
                </c:pt>
                <c:pt idx="6">
                  <c:v>1.9</c:v>
                </c:pt>
                <c:pt idx="7">
                  <c:v>1.9</c:v>
                </c:pt>
                <c:pt idx="8">
                  <c:v>1.9</c:v>
                </c:pt>
                <c:pt idx="9">
                  <c:v>1.9</c:v>
                </c:pt>
                <c:pt idx="10">
                  <c:v>1.9</c:v>
                </c:pt>
                <c:pt idx="11">
                  <c:v>1.9</c:v>
                </c:pt>
                <c:pt idx="12">
                  <c:v>1.9</c:v>
                </c:pt>
                <c:pt idx="13">
                  <c:v>1.9</c:v>
                </c:pt>
                <c:pt idx="14">
                  <c:v>1.9</c:v>
                </c:pt>
                <c:pt idx="15">
                  <c:v>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AA3AD"/>
                </a:solidFill>
                <a:latin typeface="Arial"/>
              </a:defRPr>
            </a:pPr>
            <a:endParaRPr lang="en-US"/>
          </a:p>
        </c:txPr>
        <c:crossAx val="2094734552"/>
        <c:crosses val="autoZero"/>
        <c:auto val="1"/>
        <c:lblAlgn val="ctr"/>
        <c:noMultiLvlLbl val="1"/>
      </c:catAx>
      <c:valAx>
        <c:axId val="2094734552"/>
        <c:scaling>
          <c:orientation val="minMax"/>
          <c:max val="2.6"/>
          <c:min val="1"/>
        </c:scaling>
        <c:delete val="0"/>
        <c:axPos val="l"/>
        <c:majorGridlines>
          <c:spPr>
            <a:ln w="12700" cap="flat">
              <a:solidFill>
                <a:srgbClr val="3A424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3AD"/>
                </a:solidFill>
                <a:latin typeface="Arial"/>
              </a:defRPr>
            </a:pPr>
            <a:endParaRPr lang="en-US"/>
          </a:p>
        </c:txPr>
        <c:crossAx val="2094734554"/>
        <c:crosses val="autoZero"/>
        <c:crossBetween val="between"/>
      </c:valAx>
      <c:spPr>
        <a:solidFill>
          <a:srgbClr val="1F2428"/>
        </a:solidFill>
        <a:ln>
          <a:noFill/>
        </a:ln>
        <a:effectLst/>
      </c:spPr>
    </c:plotArea>
    <c:legend>
      <c:legendPos val="b"/>
      <c:overlay val="0"/>
      <c:txPr>
        <a:bodyPr/>
        <a:lstStyle/>
        <a:p>
          <a:pPr>
            <a:defRPr sz="1000">
              <a:solidFill>
                <a:srgbClr val="C7CED6"/>
              </a:solidFill>
            </a:defRPr>
          </a:pPr>
          <a:endParaRPr lang="en-US"/>
        </a:p>
      </c:txPr>
    </c:legend>
    <c:plotVisOnly val="1"/>
    <c:dispBlanksAs val="span"/>
  </c:chart>
  <c:spPr>
    <a:solidFill>
      <a:srgbClr val="1F2428"/>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give the robot a start tile, a facing and a destination, and have it drive there on its own. Three parts: plan the route, follow the lane, handle what gets in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has 30 drivable tiles. Only five are intersections. Everything else is curves and straights the robot simply drives.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talks over one small HTTP interface that was already agreed inside the team. The robot even serves the planner page, so it opens from any machine on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design decision in the planner. Heading has to be part of the search state, otherwise a path is just a set of tiles and you cannot derive turns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stressing that the bug was not in the control maths. The controller was fine; it was being fed a lane centre computed from the wrong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generalises: replace an open-loop timing you cannot tune with a closed-loop condition you can observe.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negative result and it is worth presenting honestly. The chart is real logged data from the robot. The point is that elongation is not a stable property of these objects, so no threshold on it can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we checked what earlier batches did before rebuilding. Nobody solved this with classical colour or shape vision, which supports the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live if the robot is available. Otherwise walk through the map: click, set facing, click,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when presenting. These four lessons are the transferable part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stop lines is the biggest remaining fragility and AprilTags are the standard answer. Say that we scoped them out deliberately in order to get the whole route working end to end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a live demo if the track is set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428"/>
        </a:solidFill>
      </p:bgPr>
    </p:bg>
    <p:spTree>
      <p:nvGrpSpPr>
        <p:cNvPr id="1" name=""/>
        <p:cNvGrpSpPr/>
        <p:nvPr/>
      </p:nvGrpSpPr>
      <p:grpSpPr>
        <a:xfrm>
          <a:off x="0" y="0"/>
          <a:ext cx="0" cy="0"/>
          <a:chOff x="0" y="0"/>
          <a:chExt cx="0" cy="0"/>
        </a:xfrm>
      </p:grpSpPr>
      <p:sp>
        <p:nvSpPr>
          <p:cNvPr id="2" name="Shape 0"/>
          <p:cNvSpPr/>
          <p:nvPr/>
        </p:nvSpPr>
        <p:spPr>
          <a:xfrm>
            <a:off x="640080" y="4892040"/>
            <a:ext cx="777240" cy="100584"/>
          </a:xfrm>
          <a:prstGeom prst="rect">
            <a:avLst/>
          </a:prstGeom>
          <a:solidFill>
            <a:srgbClr val="F2C012"/>
          </a:solidFill>
          <a:ln/>
        </p:spPr>
      </p:sp>
      <p:sp>
        <p:nvSpPr>
          <p:cNvPr id="3" name="Shape 1"/>
          <p:cNvSpPr/>
          <p:nvPr/>
        </p:nvSpPr>
        <p:spPr>
          <a:xfrm>
            <a:off x="1965960" y="4892040"/>
            <a:ext cx="777240" cy="100584"/>
          </a:xfrm>
          <a:prstGeom prst="rect">
            <a:avLst/>
          </a:prstGeom>
          <a:solidFill>
            <a:srgbClr val="F2C012"/>
          </a:solidFill>
          <a:ln/>
        </p:spPr>
      </p:sp>
      <p:sp>
        <p:nvSpPr>
          <p:cNvPr id="4" name="Shape 2"/>
          <p:cNvSpPr/>
          <p:nvPr/>
        </p:nvSpPr>
        <p:spPr>
          <a:xfrm>
            <a:off x="3291840" y="4892040"/>
            <a:ext cx="777240" cy="100584"/>
          </a:xfrm>
          <a:prstGeom prst="rect">
            <a:avLst/>
          </a:prstGeom>
          <a:solidFill>
            <a:srgbClr val="F2C012"/>
          </a:solidFill>
          <a:ln/>
        </p:spPr>
      </p:sp>
      <p:sp>
        <p:nvSpPr>
          <p:cNvPr id="5" name="Shape 3"/>
          <p:cNvSpPr/>
          <p:nvPr/>
        </p:nvSpPr>
        <p:spPr>
          <a:xfrm>
            <a:off x="4617720" y="4892040"/>
            <a:ext cx="777240" cy="100584"/>
          </a:xfrm>
          <a:prstGeom prst="rect">
            <a:avLst/>
          </a:prstGeom>
          <a:solidFill>
            <a:srgbClr val="F2C012"/>
          </a:solidFill>
          <a:ln/>
        </p:spPr>
      </p:sp>
      <p:sp>
        <p:nvSpPr>
          <p:cNvPr id="6" name="Shape 4"/>
          <p:cNvSpPr/>
          <p:nvPr/>
        </p:nvSpPr>
        <p:spPr>
          <a:xfrm>
            <a:off x="5943600" y="4892040"/>
            <a:ext cx="777240" cy="100584"/>
          </a:xfrm>
          <a:prstGeom prst="rect">
            <a:avLst/>
          </a:prstGeom>
          <a:solidFill>
            <a:srgbClr val="F2C012"/>
          </a:solidFill>
          <a:ln/>
        </p:spPr>
      </p:sp>
      <p:sp>
        <p:nvSpPr>
          <p:cNvPr id="7" name="Shape 5"/>
          <p:cNvSpPr/>
          <p:nvPr/>
        </p:nvSpPr>
        <p:spPr>
          <a:xfrm>
            <a:off x="7269480" y="4892040"/>
            <a:ext cx="777240" cy="100584"/>
          </a:xfrm>
          <a:prstGeom prst="rect">
            <a:avLst/>
          </a:prstGeom>
          <a:solidFill>
            <a:srgbClr val="F2C012"/>
          </a:solidFill>
          <a:ln/>
        </p:spPr>
      </p:sp>
      <p:sp>
        <p:nvSpPr>
          <p:cNvPr id="8" name="Shape 6"/>
          <p:cNvSpPr/>
          <p:nvPr/>
        </p:nvSpPr>
        <p:spPr>
          <a:xfrm>
            <a:off x="8595360" y="4892040"/>
            <a:ext cx="777240" cy="100584"/>
          </a:xfrm>
          <a:prstGeom prst="rect">
            <a:avLst/>
          </a:prstGeom>
          <a:solidFill>
            <a:srgbClr val="F2C012"/>
          </a:solidFill>
          <a:ln/>
        </p:spPr>
      </p:sp>
      <p:sp>
        <p:nvSpPr>
          <p:cNvPr id="9" name="Shape 7"/>
          <p:cNvSpPr/>
          <p:nvPr/>
        </p:nvSpPr>
        <p:spPr>
          <a:xfrm>
            <a:off x="9921240" y="4892040"/>
            <a:ext cx="777240" cy="100584"/>
          </a:xfrm>
          <a:prstGeom prst="rect">
            <a:avLst/>
          </a:prstGeom>
          <a:solidFill>
            <a:srgbClr val="F2C012"/>
          </a:solidFill>
          <a:ln/>
        </p:spPr>
      </p:sp>
      <p:sp>
        <p:nvSpPr>
          <p:cNvPr id="10" name="Shape 8"/>
          <p:cNvSpPr/>
          <p:nvPr/>
        </p:nvSpPr>
        <p:spPr>
          <a:xfrm>
            <a:off x="11247120" y="4892040"/>
            <a:ext cx="777240" cy="100584"/>
          </a:xfrm>
          <a:prstGeom prst="rect">
            <a:avLst/>
          </a:prstGeom>
          <a:solidFill>
            <a:srgbClr val="F2C012"/>
          </a:solidFill>
          <a:ln/>
        </p:spPr>
      </p:sp>
      <p:sp>
        <p:nvSpPr>
          <p:cNvPr id="11" name="Text 9"/>
          <p:cNvSpPr/>
          <p:nvPr/>
        </p:nvSpPr>
        <p:spPr>
          <a:xfrm>
            <a:off x="640080" y="1737360"/>
            <a:ext cx="105156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Duckiebot Grid Navigation</a:t>
            </a:r>
            <a:endParaRPr lang="en-US" sz="4800" dirty="0"/>
          </a:p>
        </p:txBody>
      </p:sp>
      <p:sp>
        <p:nvSpPr>
          <p:cNvPr id="12" name="Text 10"/>
          <p:cNvSpPr/>
          <p:nvPr/>
        </p:nvSpPr>
        <p:spPr>
          <a:xfrm>
            <a:off x="640080" y="2743200"/>
            <a:ext cx="9875520" cy="548640"/>
          </a:xfrm>
          <a:prstGeom prst="rect">
            <a:avLst/>
          </a:prstGeom>
          <a:noFill/>
          <a:ln/>
        </p:spPr>
        <p:txBody>
          <a:bodyPr wrap="square" lIns="0" tIns="0" rIns="0" bIns="0" rtlCol="0" anchor="ctr"/>
          <a:lstStyle/>
          <a:p>
            <a:pPr indent="0" marL="0">
              <a:buNone/>
            </a:pPr>
            <a:r>
              <a:rPr lang="en-US" sz="1900" dirty="0">
                <a:solidFill>
                  <a:srgbClr val="F2C012"/>
                </a:solidFill>
                <a:latin typeface="Calibri" pitchFamily="34" charset="0"/>
                <a:ea typeface="Calibri" pitchFamily="34" charset="-122"/>
                <a:cs typeface="Calibri" pitchFamily="34" charset="-120"/>
              </a:rPr>
              <a:t>A* route planning, lane following, and obstacle avoidance on a real robot</a:t>
            </a:r>
            <a:endParaRPr lang="en-US" sz="1900" dirty="0"/>
          </a:p>
        </p:txBody>
      </p:sp>
      <p:sp>
        <p:nvSpPr>
          <p:cNvPr id="13" name="Text 11"/>
          <p:cNvSpPr/>
          <p:nvPr/>
        </p:nvSpPr>
        <p:spPr>
          <a:xfrm>
            <a:off x="640080" y="3429000"/>
            <a:ext cx="9601200" cy="365760"/>
          </a:xfrm>
          <a:prstGeom prst="rect">
            <a:avLst/>
          </a:prstGeom>
          <a:noFill/>
          <a:ln/>
        </p:spPr>
        <p:txBody>
          <a:bodyPr wrap="square" lIns="0" tIns="0" rIns="0" bIns="0" rtlCol="0" anchor="ctr"/>
          <a:lstStyle/>
          <a:p>
            <a:pPr indent="0" marL="0">
              <a:buNone/>
            </a:pPr>
            <a:r>
              <a:rPr lang="en-US" sz="1400" dirty="0">
                <a:solidFill>
                  <a:srgbClr val="A9B2BD"/>
                </a:solidFill>
                <a:latin typeface="Calibri" pitchFamily="34" charset="0"/>
                <a:ea typeface="Calibri" pitchFamily="34" charset="-122"/>
                <a:cs typeface="Calibri" pitchFamily="34" charset="-120"/>
              </a:rPr>
              <a:t>Duckietown course project   |   robot duck4   |   TUM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15181D"/>
                </a:solidFill>
                <a:latin typeface="Cambria" pitchFamily="34" charset="0"/>
                <a:ea typeface="Cambria" pitchFamily="34" charset="-122"/>
                <a:cs typeface="Cambria" pitchFamily="34" charset="-120"/>
              </a:rPr>
              <a:t>The task</a:t>
            </a:r>
            <a:endParaRPr lang="en-US" sz="3400" dirty="0"/>
          </a:p>
        </p:txBody>
      </p:sp>
      <p:sp>
        <p:nvSpPr>
          <p:cNvPr id="3" name="Text 1"/>
          <p:cNvSpPr/>
          <p:nvPr/>
        </p:nvSpPr>
        <p:spPr>
          <a:xfrm>
            <a:off x="640080" y="1371600"/>
            <a:ext cx="5669280" cy="2011680"/>
          </a:xfrm>
          <a:prstGeom prst="rect">
            <a:avLst/>
          </a:prstGeom>
          <a:noFill/>
          <a:ln/>
        </p:spPr>
        <p:txBody>
          <a:bodyPr wrap="square" lIns="0" tIns="0" rIns="0" bIns="0" rtlCol="0" anchor="ctr"/>
          <a:lstStyle/>
          <a:p>
            <a:pPr indent="0" marL="0">
              <a:lnSpc>
                <a:spcPts val="2400"/>
              </a:lnSpc>
              <a:spcAft>
                <a:spcPts val="1000"/>
              </a:spcAft>
              <a:buNone/>
            </a:pPr>
            <a:r>
              <a:rPr lang="en-US" sz="1600" b="1" dirty="0">
                <a:solidFill>
                  <a:srgbClr val="15181D"/>
                </a:solidFill>
                <a:latin typeface="Calibri" pitchFamily="34" charset="0"/>
                <a:ea typeface="Calibri" pitchFamily="34" charset="-122"/>
                <a:cs typeface="Calibri" pitchFamily="34" charset="-120"/>
              </a:rPr>
              <a:t>Tell the robot where it is, which way it points, and where to go.</a:t>
            </a:r>
            <a:endParaRPr lang="en-US" sz="1600" dirty="0"/>
          </a:p>
          <a:p>
            <a:pPr indent="0" marL="0">
              <a:lnSpc>
                <a:spcPts val="2400"/>
              </a:lnSpc>
              <a:buNone/>
            </a:pPr>
            <a:r>
              <a:rPr lang="en-US" sz="1600" dirty="0">
                <a:solidFill>
                  <a:srgbClr val="15181D"/>
                </a:solidFill>
                <a:latin typeface="Calibri" pitchFamily="34" charset="0"/>
                <a:ea typeface="Calibri" pitchFamily="34" charset="-122"/>
                <a:cs typeface="Calibri" pitchFamily="34" charset="-120"/>
              </a:rPr>
              <a:t>It must then reach the destination with no further help: staying in its lane, stopping at every red line, turning the right way at each intersection, and getting around anything in the road.</a:t>
            </a:r>
            <a:endParaRPr lang="en-US" sz="1600" dirty="0"/>
          </a:p>
        </p:txBody>
      </p:sp>
      <p:sp>
        <p:nvSpPr>
          <p:cNvPr id="4" name="Text 2"/>
          <p:cNvSpPr/>
          <p:nvPr/>
        </p:nvSpPr>
        <p:spPr>
          <a:xfrm>
            <a:off x="640080" y="3703320"/>
            <a:ext cx="1828800" cy="640080"/>
          </a:xfrm>
          <a:prstGeom prst="rect">
            <a:avLst/>
          </a:prstGeom>
          <a:noFill/>
          <a:ln/>
        </p:spPr>
        <p:txBody>
          <a:bodyPr wrap="square" lIns="0" tIns="0" rIns="0" bIns="0" rtlCol="0" anchor="ctr"/>
          <a:lstStyle/>
          <a:p>
            <a:pPr indent="0" marL="0">
              <a:buNone/>
            </a:pPr>
            <a:r>
              <a:rPr lang="en-US" sz="3800" b="1" dirty="0">
                <a:solidFill>
                  <a:srgbClr val="F2C012"/>
                </a:solidFill>
                <a:latin typeface="Cambria" pitchFamily="34" charset="0"/>
                <a:ea typeface="Cambria" pitchFamily="34" charset="-122"/>
                <a:cs typeface="Cambria" pitchFamily="34" charset="-120"/>
              </a:rPr>
              <a:t>7 x 6</a:t>
            </a:r>
            <a:endParaRPr lang="en-US" sz="3800" dirty="0"/>
          </a:p>
        </p:txBody>
      </p:sp>
      <p:sp>
        <p:nvSpPr>
          <p:cNvPr id="5" name="Text 3"/>
          <p:cNvSpPr/>
          <p:nvPr/>
        </p:nvSpPr>
        <p:spPr>
          <a:xfrm>
            <a:off x="640080" y="4370832"/>
            <a:ext cx="1828800" cy="365760"/>
          </a:xfrm>
          <a:prstGeom prst="rect">
            <a:avLst/>
          </a:prstGeom>
          <a:noFill/>
          <a:ln/>
        </p:spPr>
        <p:txBody>
          <a:bodyPr wrap="square" lIns="0" tIns="0" rIns="0" bIns="0" rtlCol="0" anchor="ctr"/>
          <a:lstStyle/>
          <a:p>
            <a:pPr indent="0" marL="0">
              <a:buNone/>
            </a:pPr>
            <a:r>
              <a:rPr lang="en-US" sz="1300" dirty="0">
                <a:solidFill>
                  <a:srgbClr val="6B7480"/>
                </a:solidFill>
                <a:latin typeface="Calibri" pitchFamily="34" charset="0"/>
                <a:ea typeface="Calibri" pitchFamily="34" charset="-122"/>
                <a:cs typeface="Calibri" pitchFamily="34" charset="-120"/>
              </a:rPr>
              <a:t>tile map</a:t>
            </a:r>
            <a:endParaRPr lang="en-US" sz="1300" dirty="0"/>
          </a:p>
        </p:txBody>
      </p:sp>
      <p:sp>
        <p:nvSpPr>
          <p:cNvPr id="6" name="Text 4"/>
          <p:cNvSpPr/>
          <p:nvPr/>
        </p:nvSpPr>
        <p:spPr>
          <a:xfrm>
            <a:off x="2606040" y="3703320"/>
            <a:ext cx="1828800" cy="640080"/>
          </a:xfrm>
          <a:prstGeom prst="rect">
            <a:avLst/>
          </a:prstGeom>
          <a:noFill/>
          <a:ln/>
        </p:spPr>
        <p:txBody>
          <a:bodyPr wrap="square" lIns="0" tIns="0" rIns="0" bIns="0" rtlCol="0" anchor="ctr"/>
          <a:lstStyle/>
          <a:p>
            <a:pPr indent="0" marL="0">
              <a:buNone/>
            </a:pPr>
            <a:r>
              <a:rPr lang="en-US" sz="3800" b="1" dirty="0">
                <a:solidFill>
                  <a:srgbClr val="F2C012"/>
                </a:solidFill>
                <a:latin typeface="Cambria" pitchFamily="34" charset="0"/>
                <a:ea typeface="Cambria" pitchFamily="34" charset="-122"/>
                <a:cs typeface="Cambria" pitchFamily="34" charset="-120"/>
              </a:rPr>
              <a:t>5</a:t>
            </a:r>
            <a:endParaRPr lang="en-US" sz="3800" dirty="0"/>
          </a:p>
        </p:txBody>
      </p:sp>
      <p:sp>
        <p:nvSpPr>
          <p:cNvPr id="7" name="Text 5"/>
          <p:cNvSpPr/>
          <p:nvPr/>
        </p:nvSpPr>
        <p:spPr>
          <a:xfrm>
            <a:off x="2606040" y="4370832"/>
            <a:ext cx="1828800" cy="365760"/>
          </a:xfrm>
          <a:prstGeom prst="rect">
            <a:avLst/>
          </a:prstGeom>
          <a:noFill/>
          <a:ln/>
        </p:spPr>
        <p:txBody>
          <a:bodyPr wrap="square" lIns="0" tIns="0" rIns="0" bIns="0" rtlCol="0" anchor="ctr"/>
          <a:lstStyle/>
          <a:p>
            <a:pPr indent="0" marL="0">
              <a:buNone/>
            </a:pPr>
            <a:r>
              <a:rPr lang="en-US" sz="1300" dirty="0">
                <a:solidFill>
                  <a:srgbClr val="6B7480"/>
                </a:solidFill>
                <a:latin typeface="Calibri" pitchFamily="34" charset="0"/>
                <a:ea typeface="Calibri" pitchFamily="34" charset="-122"/>
                <a:cs typeface="Calibri" pitchFamily="34" charset="-120"/>
              </a:rPr>
              <a:t>intersections</a:t>
            </a:r>
            <a:endParaRPr lang="en-US" sz="1300" dirty="0"/>
          </a:p>
        </p:txBody>
      </p:sp>
      <p:sp>
        <p:nvSpPr>
          <p:cNvPr id="8" name="Text 6"/>
          <p:cNvSpPr/>
          <p:nvPr/>
        </p:nvSpPr>
        <p:spPr>
          <a:xfrm>
            <a:off x="4572000" y="3703320"/>
            <a:ext cx="1828800" cy="640080"/>
          </a:xfrm>
          <a:prstGeom prst="rect">
            <a:avLst/>
          </a:prstGeom>
          <a:noFill/>
          <a:ln/>
        </p:spPr>
        <p:txBody>
          <a:bodyPr wrap="square" lIns="0" tIns="0" rIns="0" bIns="0" rtlCol="0" anchor="ctr"/>
          <a:lstStyle/>
          <a:p>
            <a:pPr indent="0" marL="0">
              <a:buNone/>
            </a:pPr>
            <a:r>
              <a:rPr lang="en-US" sz="3800" b="1" dirty="0">
                <a:solidFill>
                  <a:srgbClr val="F2C012"/>
                </a:solidFill>
                <a:latin typeface="Cambria" pitchFamily="34" charset="0"/>
                <a:ea typeface="Cambria" pitchFamily="34" charset="-122"/>
                <a:cs typeface="Cambria" pitchFamily="34" charset="-120"/>
              </a:rPr>
              <a:t>1980</a:t>
            </a:r>
            <a:endParaRPr lang="en-US" sz="3800" dirty="0"/>
          </a:p>
        </p:txBody>
      </p:sp>
      <p:sp>
        <p:nvSpPr>
          <p:cNvPr id="9" name="Text 7"/>
          <p:cNvSpPr/>
          <p:nvPr/>
        </p:nvSpPr>
        <p:spPr>
          <a:xfrm>
            <a:off x="4572000" y="4370832"/>
            <a:ext cx="1828800" cy="365760"/>
          </a:xfrm>
          <a:prstGeom prst="rect">
            <a:avLst/>
          </a:prstGeom>
          <a:noFill/>
          <a:ln/>
        </p:spPr>
        <p:txBody>
          <a:bodyPr wrap="square" lIns="0" tIns="0" rIns="0" bIns="0" rtlCol="0" anchor="ctr"/>
          <a:lstStyle/>
          <a:p>
            <a:pPr indent="0" marL="0">
              <a:buNone/>
            </a:pPr>
            <a:r>
              <a:rPr lang="en-US" sz="1300" dirty="0">
                <a:solidFill>
                  <a:srgbClr val="6B7480"/>
                </a:solidFill>
                <a:latin typeface="Calibri" pitchFamily="34" charset="0"/>
                <a:ea typeface="Calibri" pitchFamily="34" charset="-122"/>
                <a:cs typeface="Calibri" pitchFamily="34" charset="-120"/>
              </a:rPr>
              <a:t>routes verified</a:t>
            </a:r>
            <a:endParaRPr lang="en-US" sz="1300" dirty="0"/>
          </a:p>
        </p:txBody>
      </p:sp>
      <p:sp>
        <p:nvSpPr>
          <p:cNvPr id="10" name="Shape 8"/>
          <p:cNvSpPr/>
          <p:nvPr/>
        </p:nvSpPr>
        <p:spPr>
          <a:xfrm>
            <a:off x="8046720" y="1371600"/>
            <a:ext cx="548640" cy="548640"/>
          </a:xfrm>
          <a:prstGeom prst="rect">
            <a:avLst/>
          </a:prstGeom>
          <a:solidFill>
            <a:srgbClr val="2C3238"/>
          </a:solidFill>
          <a:ln w="12700">
            <a:solidFill>
              <a:srgbClr val="2C3238"/>
            </a:solidFill>
            <a:prstDash val="solid"/>
          </a:ln>
        </p:spPr>
      </p:sp>
      <p:sp>
        <p:nvSpPr>
          <p:cNvPr id="11" name="Shape 9"/>
          <p:cNvSpPr/>
          <p:nvPr/>
        </p:nvSpPr>
        <p:spPr>
          <a:xfrm>
            <a:off x="8595360" y="1371600"/>
            <a:ext cx="548640" cy="548640"/>
          </a:xfrm>
          <a:prstGeom prst="rect">
            <a:avLst/>
          </a:prstGeom>
          <a:solidFill>
            <a:srgbClr val="2C3238"/>
          </a:solidFill>
          <a:ln w="12700">
            <a:solidFill>
              <a:srgbClr val="2C3238"/>
            </a:solidFill>
            <a:prstDash val="solid"/>
          </a:ln>
        </p:spPr>
      </p:sp>
      <p:sp>
        <p:nvSpPr>
          <p:cNvPr id="12" name="Shape 10"/>
          <p:cNvSpPr/>
          <p:nvPr/>
        </p:nvSpPr>
        <p:spPr>
          <a:xfrm>
            <a:off x="9144000" y="1371600"/>
            <a:ext cx="548640" cy="548640"/>
          </a:xfrm>
          <a:prstGeom prst="rect">
            <a:avLst/>
          </a:prstGeom>
          <a:solidFill>
            <a:srgbClr val="2C3238"/>
          </a:solidFill>
          <a:ln w="12700">
            <a:solidFill>
              <a:srgbClr val="2C3238"/>
            </a:solidFill>
            <a:prstDash val="solid"/>
          </a:ln>
        </p:spPr>
      </p:sp>
      <p:sp>
        <p:nvSpPr>
          <p:cNvPr id="13" name="Shape 11"/>
          <p:cNvSpPr/>
          <p:nvPr/>
        </p:nvSpPr>
        <p:spPr>
          <a:xfrm>
            <a:off x="9692640" y="1371600"/>
            <a:ext cx="548640" cy="548640"/>
          </a:xfrm>
          <a:prstGeom prst="rect">
            <a:avLst/>
          </a:prstGeom>
          <a:solidFill>
            <a:srgbClr val="2C3238"/>
          </a:solidFill>
          <a:ln w="12700">
            <a:solidFill>
              <a:srgbClr val="2C3238"/>
            </a:solidFill>
            <a:prstDash val="solid"/>
          </a:ln>
        </p:spPr>
      </p:sp>
      <p:sp>
        <p:nvSpPr>
          <p:cNvPr id="14" name="Shape 12"/>
          <p:cNvSpPr/>
          <p:nvPr/>
        </p:nvSpPr>
        <p:spPr>
          <a:xfrm>
            <a:off x="7498080" y="1920240"/>
            <a:ext cx="548640" cy="548640"/>
          </a:xfrm>
          <a:prstGeom prst="rect">
            <a:avLst/>
          </a:prstGeom>
          <a:solidFill>
            <a:srgbClr val="2C3238"/>
          </a:solidFill>
          <a:ln w="12700">
            <a:solidFill>
              <a:srgbClr val="2C3238"/>
            </a:solidFill>
            <a:prstDash val="solid"/>
          </a:ln>
        </p:spPr>
      </p:sp>
      <p:sp>
        <p:nvSpPr>
          <p:cNvPr id="15" name="Shape 13"/>
          <p:cNvSpPr/>
          <p:nvPr/>
        </p:nvSpPr>
        <p:spPr>
          <a:xfrm>
            <a:off x="8046720" y="1920240"/>
            <a:ext cx="548640" cy="548640"/>
          </a:xfrm>
          <a:prstGeom prst="rect">
            <a:avLst/>
          </a:prstGeom>
          <a:solidFill>
            <a:srgbClr val="2C3238"/>
          </a:solidFill>
          <a:ln w="12700">
            <a:solidFill>
              <a:srgbClr val="2C3238"/>
            </a:solidFill>
            <a:prstDash val="solid"/>
          </a:ln>
        </p:spPr>
      </p:sp>
      <p:sp>
        <p:nvSpPr>
          <p:cNvPr id="16" name="Shape 14"/>
          <p:cNvSpPr/>
          <p:nvPr/>
        </p:nvSpPr>
        <p:spPr>
          <a:xfrm>
            <a:off x="9692640" y="1920240"/>
            <a:ext cx="548640" cy="548640"/>
          </a:xfrm>
          <a:prstGeom prst="rect">
            <a:avLst/>
          </a:prstGeom>
          <a:solidFill>
            <a:srgbClr val="2C3238"/>
          </a:solidFill>
          <a:ln w="12700">
            <a:solidFill>
              <a:srgbClr val="2C3238"/>
            </a:solidFill>
            <a:prstDash val="solid"/>
          </a:ln>
        </p:spPr>
      </p:sp>
      <p:sp>
        <p:nvSpPr>
          <p:cNvPr id="17" name="Shape 15"/>
          <p:cNvSpPr/>
          <p:nvPr/>
        </p:nvSpPr>
        <p:spPr>
          <a:xfrm>
            <a:off x="6949440" y="2468880"/>
            <a:ext cx="548640" cy="548640"/>
          </a:xfrm>
          <a:prstGeom prst="rect">
            <a:avLst/>
          </a:prstGeom>
          <a:solidFill>
            <a:srgbClr val="2C3238"/>
          </a:solidFill>
          <a:ln w="12700">
            <a:solidFill>
              <a:srgbClr val="2C3238"/>
            </a:solidFill>
            <a:prstDash val="solid"/>
          </a:ln>
        </p:spPr>
      </p:sp>
      <p:sp>
        <p:nvSpPr>
          <p:cNvPr id="18" name="Shape 16"/>
          <p:cNvSpPr/>
          <p:nvPr/>
        </p:nvSpPr>
        <p:spPr>
          <a:xfrm>
            <a:off x="7498080" y="2468880"/>
            <a:ext cx="548640" cy="548640"/>
          </a:xfrm>
          <a:prstGeom prst="rect">
            <a:avLst/>
          </a:prstGeom>
          <a:solidFill>
            <a:srgbClr val="2C3238"/>
          </a:solidFill>
          <a:ln w="12700">
            <a:solidFill>
              <a:srgbClr val="2C3238"/>
            </a:solidFill>
            <a:prstDash val="solid"/>
          </a:ln>
        </p:spPr>
      </p:sp>
      <p:sp>
        <p:nvSpPr>
          <p:cNvPr id="19" name="Shape 17"/>
          <p:cNvSpPr/>
          <p:nvPr/>
        </p:nvSpPr>
        <p:spPr>
          <a:xfrm>
            <a:off x="8595360" y="2468880"/>
            <a:ext cx="548640" cy="548640"/>
          </a:xfrm>
          <a:prstGeom prst="rect">
            <a:avLst/>
          </a:prstGeom>
          <a:solidFill>
            <a:srgbClr val="2C3238"/>
          </a:solidFill>
          <a:ln w="12700">
            <a:solidFill>
              <a:srgbClr val="2C3238"/>
            </a:solidFill>
            <a:prstDash val="solid"/>
          </a:ln>
        </p:spPr>
      </p:sp>
      <p:sp>
        <p:nvSpPr>
          <p:cNvPr id="20" name="Shape 18"/>
          <p:cNvSpPr/>
          <p:nvPr/>
        </p:nvSpPr>
        <p:spPr>
          <a:xfrm>
            <a:off x="9144000" y="2468880"/>
            <a:ext cx="548640" cy="548640"/>
          </a:xfrm>
          <a:prstGeom prst="rect">
            <a:avLst/>
          </a:prstGeom>
          <a:solidFill>
            <a:srgbClr val="2C3238"/>
          </a:solidFill>
          <a:ln w="12700">
            <a:solidFill>
              <a:srgbClr val="2C3238"/>
            </a:solidFill>
            <a:prstDash val="solid"/>
          </a:ln>
        </p:spPr>
      </p:sp>
      <p:sp>
        <p:nvSpPr>
          <p:cNvPr id="21" name="Shape 19"/>
          <p:cNvSpPr/>
          <p:nvPr/>
        </p:nvSpPr>
        <p:spPr>
          <a:xfrm>
            <a:off x="9692640" y="2468880"/>
            <a:ext cx="548640" cy="548640"/>
          </a:xfrm>
          <a:prstGeom prst="rect">
            <a:avLst/>
          </a:prstGeom>
          <a:solidFill>
            <a:srgbClr val="2C3238"/>
          </a:solidFill>
          <a:ln w="12700">
            <a:solidFill>
              <a:srgbClr val="2C3238"/>
            </a:solidFill>
            <a:prstDash val="solid"/>
          </a:ln>
        </p:spPr>
      </p:sp>
      <p:sp>
        <p:nvSpPr>
          <p:cNvPr id="22" name="Shape 20"/>
          <p:cNvSpPr/>
          <p:nvPr/>
        </p:nvSpPr>
        <p:spPr>
          <a:xfrm>
            <a:off x="6949440" y="3017520"/>
            <a:ext cx="548640" cy="548640"/>
          </a:xfrm>
          <a:prstGeom prst="rect">
            <a:avLst/>
          </a:prstGeom>
          <a:solidFill>
            <a:srgbClr val="2C3238"/>
          </a:solidFill>
          <a:ln w="12700">
            <a:solidFill>
              <a:srgbClr val="2C3238"/>
            </a:solidFill>
            <a:prstDash val="solid"/>
          </a:ln>
        </p:spPr>
      </p:sp>
      <p:sp>
        <p:nvSpPr>
          <p:cNvPr id="23" name="Shape 21"/>
          <p:cNvSpPr/>
          <p:nvPr/>
        </p:nvSpPr>
        <p:spPr>
          <a:xfrm>
            <a:off x="8595360" y="3017520"/>
            <a:ext cx="548640" cy="548640"/>
          </a:xfrm>
          <a:prstGeom prst="rect">
            <a:avLst/>
          </a:prstGeom>
          <a:solidFill>
            <a:srgbClr val="2C3238"/>
          </a:solidFill>
          <a:ln w="12700">
            <a:solidFill>
              <a:srgbClr val="2C3238"/>
            </a:solidFill>
            <a:prstDash val="solid"/>
          </a:ln>
        </p:spPr>
      </p:sp>
      <p:sp>
        <p:nvSpPr>
          <p:cNvPr id="24" name="Shape 22"/>
          <p:cNvSpPr/>
          <p:nvPr/>
        </p:nvSpPr>
        <p:spPr>
          <a:xfrm>
            <a:off x="9692640" y="3017520"/>
            <a:ext cx="548640" cy="548640"/>
          </a:xfrm>
          <a:prstGeom prst="rect">
            <a:avLst/>
          </a:prstGeom>
          <a:solidFill>
            <a:srgbClr val="2C3238"/>
          </a:solidFill>
          <a:ln w="12700">
            <a:solidFill>
              <a:srgbClr val="2C3238"/>
            </a:solidFill>
            <a:prstDash val="solid"/>
          </a:ln>
        </p:spPr>
      </p:sp>
      <p:sp>
        <p:nvSpPr>
          <p:cNvPr id="25" name="Shape 23"/>
          <p:cNvSpPr/>
          <p:nvPr/>
        </p:nvSpPr>
        <p:spPr>
          <a:xfrm>
            <a:off x="6949440" y="3566160"/>
            <a:ext cx="548640" cy="548640"/>
          </a:xfrm>
          <a:prstGeom prst="rect">
            <a:avLst/>
          </a:prstGeom>
          <a:solidFill>
            <a:srgbClr val="2C3238"/>
          </a:solidFill>
          <a:ln w="12700">
            <a:solidFill>
              <a:srgbClr val="2C3238"/>
            </a:solidFill>
            <a:prstDash val="solid"/>
          </a:ln>
        </p:spPr>
      </p:sp>
      <p:sp>
        <p:nvSpPr>
          <p:cNvPr id="26" name="Shape 24"/>
          <p:cNvSpPr/>
          <p:nvPr/>
        </p:nvSpPr>
        <p:spPr>
          <a:xfrm>
            <a:off x="7498080" y="3566160"/>
            <a:ext cx="548640" cy="548640"/>
          </a:xfrm>
          <a:prstGeom prst="rect">
            <a:avLst/>
          </a:prstGeom>
          <a:solidFill>
            <a:srgbClr val="2C3238"/>
          </a:solidFill>
          <a:ln w="12700">
            <a:solidFill>
              <a:srgbClr val="2C3238"/>
            </a:solidFill>
            <a:prstDash val="solid"/>
          </a:ln>
        </p:spPr>
      </p:sp>
      <p:sp>
        <p:nvSpPr>
          <p:cNvPr id="27" name="Shape 25"/>
          <p:cNvSpPr/>
          <p:nvPr/>
        </p:nvSpPr>
        <p:spPr>
          <a:xfrm>
            <a:off x="8046720" y="3566160"/>
            <a:ext cx="548640" cy="548640"/>
          </a:xfrm>
          <a:prstGeom prst="rect">
            <a:avLst/>
          </a:prstGeom>
          <a:solidFill>
            <a:srgbClr val="2C3238"/>
          </a:solidFill>
          <a:ln w="12700">
            <a:solidFill>
              <a:srgbClr val="2C3238"/>
            </a:solidFill>
            <a:prstDash val="solid"/>
          </a:ln>
        </p:spPr>
      </p:sp>
      <p:sp>
        <p:nvSpPr>
          <p:cNvPr id="28" name="Shape 26"/>
          <p:cNvSpPr/>
          <p:nvPr/>
        </p:nvSpPr>
        <p:spPr>
          <a:xfrm>
            <a:off x="8595360" y="3566160"/>
            <a:ext cx="548640" cy="548640"/>
          </a:xfrm>
          <a:prstGeom prst="rect">
            <a:avLst/>
          </a:prstGeom>
          <a:solidFill>
            <a:srgbClr val="2C3238"/>
          </a:solidFill>
          <a:ln w="12700">
            <a:solidFill>
              <a:srgbClr val="2C3238"/>
            </a:solidFill>
            <a:prstDash val="solid"/>
          </a:ln>
        </p:spPr>
      </p:sp>
      <p:sp>
        <p:nvSpPr>
          <p:cNvPr id="29" name="Shape 27"/>
          <p:cNvSpPr/>
          <p:nvPr/>
        </p:nvSpPr>
        <p:spPr>
          <a:xfrm>
            <a:off x="9144000" y="3566160"/>
            <a:ext cx="548640" cy="548640"/>
          </a:xfrm>
          <a:prstGeom prst="rect">
            <a:avLst/>
          </a:prstGeom>
          <a:solidFill>
            <a:srgbClr val="2C3238"/>
          </a:solidFill>
          <a:ln w="12700">
            <a:solidFill>
              <a:srgbClr val="2C3238"/>
            </a:solidFill>
            <a:prstDash val="solid"/>
          </a:ln>
        </p:spPr>
      </p:sp>
      <p:sp>
        <p:nvSpPr>
          <p:cNvPr id="30" name="Shape 28"/>
          <p:cNvSpPr/>
          <p:nvPr/>
        </p:nvSpPr>
        <p:spPr>
          <a:xfrm>
            <a:off x="9692640" y="3566160"/>
            <a:ext cx="548640" cy="548640"/>
          </a:xfrm>
          <a:prstGeom prst="rect">
            <a:avLst/>
          </a:prstGeom>
          <a:solidFill>
            <a:srgbClr val="2C3238"/>
          </a:solidFill>
          <a:ln w="12700">
            <a:solidFill>
              <a:srgbClr val="2C3238"/>
            </a:solidFill>
            <a:prstDash val="solid"/>
          </a:ln>
        </p:spPr>
      </p:sp>
      <p:sp>
        <p:nvSpPr>
          <p:cNvPr id="31" name="Shape 29"/>
          <p:cNvSpPr/>
          <p:nvPr/>
        </p:nvSpPr>
        <p:spPr>
          <a:xfrm>
            <a:off x="6949440" y="4114800"/>
            <a:ext cx="548640" cy="548640"/>
          </a:xfrm>
          <a:prstGeom prst="rect">
            <a:avLst/>
          </a:prstGeom>
          <a:solidFill>
            <a:srgbClr val="2C3238"/>
          </a:solidFill>
          <a:ln w="12700">
            <a:solidFill>
              <a:srgbClr val="2C3238"/>
            </a:solidFill>
            <a:prstDash val="solid"/>
          </a:ln>
        </p:spPr>
      </p:sp>
      <p:sp>
        <p:nvSpPr>
          <p:cNvPr id="32" name="Shape 30"/>
          <p:cNvSpPr/>
          <p:nvPr/>
        </p:nvSpPr>
        <p:spPr>
          <a:xfrm>
            <a:off x="8595360" y="4114800"/>
            <a:ext cx="548640" cy="548640"/>
          </a:xfrm>
          <a:prstGeom prst="rect">
            <a:avLst/>
          </a:prstGeom>
          <a:solidFill>
            <a:srgbClr val="2C3238"/>
          </a:solidFill>
          <a:ln w="12700">
            <a:solidFill>
              <a:srgbClr val="2C3238"/>
            </a:solidFill>
            <a:prstDash val="solid"/>
          </a:ln>
        </p:spPr>
      </p:sp>
      <p:sp>
        <p:nvSpPr>
          <p:cNvPr id="33" name="Shape 31"/>
          <p:cNvSpPr/>
          <p:nvPr/>
        </p:nvSpPr>
        <p:spPr>
          <a:xfrm>
            <a:off x="9692640" y="4114800"/>
            <a:ext cx="548640" cy="548640"/>
          </a:xfrm>
          <a:prstGeom prst="rect">
            <a:avLst/>
          </a:prstGeom>
          <a:solidFill>
            <a:srgbClr val="2C3238"/>
          </a:solidFill>
          <a:ln w="12700">
            <a:solidFill>
              <a:srgbClr val="2C3238"/>
            </a:solidFill>
            <a:prstDash val="solid"/>
          </a:ln>
        </p:spPr>
      </p:sp>
      <p:sp>
        <p:nvSpPr>
          <p:cNvPr id="34" name="Shape 32"/>
          <p:cNvSpPr/>
          <p:nvPr/>
        </p:nvSpPr>
        <p:spPr>
          <a:xfrm>
            <a:off x="6949440" y="4663440"/>
            <a:ext cx="548640" cy="548640"/>
          </a:xfrm>
          <a:prstGeom prst="rect">
            <a:avLst/>
          </a:prstGeom>
          <a:solidFill>
            <a:srgbClr val="2C3238"/>
          </a:solidFill>
          <a:ln w="12700">
            <a:solidFill>
              <a:srgbClr val="2C3238"/>
            </a:solidFill>
            <a:prstDash val="solid"/>
          </a:ln>
        </p:spPr>
      </p:sp>
      <p:sp>
        <p:nvSpPr>
          <p:cNvPr id="35" name="Shape 33"/>
          <p:cNvSpPr/>
          <p:nvPr/>
        </p:nvSpPr>
        <p:spPr>
          <a:xfrm>
            <a:off x="7498080" y="4663440"/>
            <a:ext cx="548640" cy="548640"/>
          </a:xfrm>
          <a:prstGeom prst="rect">
            <a:avLst/>
          </a:prstGeom>
          <a:solidFill>
            <a:srgbClr val="2C3238"/>
          </a:solidFill>
          <a:ln w="12700">
            <a:solidFill>
              <a:srgbClr val="2C3238"/>
            </a:solidFill>
            <a:prstDash val="solid"/>
          </a:ln>
        </p:spPr>
      </p:sp>
      <p:sp>
        <p:nvSpPr>
          <p:cNvPr id="36" name="Shape 34"/>
          <p:cNvSpPr/>
          <p:nvPr/>
        </p:nvSpPr>
        <p:spPr>
          <a:xfrm>
            <a:off x="8046720" y="4663440"/>
            <a:ext cx="548640" cy="548640"/>
          </a:xfrm>
          <a:prstGeom prst="rect">
            <a:avLst/>
          </a:prstGeom>
          <a:solidFill>
            <a:srgbClr val="2C3238"/>
          </a:solidFill>
          <a:ln w="12700">
            <a:solidFill>
              <a:srgbClr val="2C3238"/>
            </a:solidFill>
            <a:prstDash val="solid"/>
          </a:ln>
        </p:spPr>
      </p:sp>
      <p:sp>
        <p:nvSpPr>
          <p:cNvPr id="37" name="Shape 35"/>
          <p:cNvSpPr/>
          <p:nvPr/>
        </p:nvSpPr>
        <p:spPr>
          <a:xfrm>
            <a:off x="8595360" y="4663440"/>
            <a:ext cx="548640" cy="548640"/>
          </a:xfrm>
          <a:prstGeom prst="rect">
            <a:avLst/>
          </a:prstGeom>
          <a:solidFill>
            <a:srgbClr val="2C3238"/>
          </a:solidFill>
          <a:ln w="12700">
            <a:solidFill>
              <a:srgbClr val="2C3238"/>
            </a:solidFill>
            <a:prstDash val="solid"/>
          </a:ln>
        </p:spPr>
      </p:sp>
      <p:sp>
        <p:nvSpPr>
          <p:cNvPr id="38" name="Shape 36"/>
          <p:cNvSpPr/>
          <p:nvPr/>
        </p:nvSpPr>
        <p:spPr>
          <a:xfrm>
            <a:off x="9144000" y="4663440"/>
            <a:ext cx="548640" cy="548640"/>
          </a:xfrm>
          <a:prstGeom prst="rect">
            <a:avLst/>
          </a:prstGeom>
          <a:solidFill>
            <a:srgbClr val="2C3238"/>
          </a:solidFill>
          <a:ln w="12700">
            <a:solidFill>
              <a:srgbClr val="2C3238"/>
            </a:solidFill>
            <a:prstDash val="solid"/>
          </a:ln>
        </p:spPr>
      </p:sp>
      <p:sp>
        <p:nvSpPr>
          <p:cNvPr id="39" name="Shape 37"/>
          <p:cNvSpPr/>
          <p:nvPr/>
        </p:nvSpPr>
        <p:spPr>
          <a:xfrm>
            <a:off x="9692640" y="4663440"/>
            <a:ext cx="548640" cy="548640"/>
          </a:xfrm>
          <a:prstGeom prst="rect">
            <a:avLst/>
          </a:prstGeom>
          <a:solidFill>
            <a:srgbClr val="2C3238"/>
          </a:solidFill>
          <a:ln w="12700">
            <a:solidFill>
              <a:srgbClr val="2C3238"/>
            </a:solidFill>
            <a:prstDash val="solid"/>
          </a:ln>
        </p:spPr>
      </p:sp>
      <p:sp>
        <p:nvSpPr>
          <p:cNvPr id="40" name="Shape 38"/>
          <p:cNvSpPr/>
          <p:nvPr/>
        </p:nvSpPr>
        <p:spPr>
          <a:xfrm>
            <a:off x="9829800" y="2606040"/>
            <a:ext cx="274320" cy="274320"/>
          </a:xfrm>
          <a:prstGeom prst="ellipse">
            <a:avLst/>
          </a:prstGeom>
          <a:solidFill>
            <a:srgbClr val="D93A2E"/>
          </a:solidFill>
          <a:ln/>
        </p:spPr>
      </p:sp>
      <p:sp>
        <p:nvSpPr>
          <p:cNvPr id="41" name="Shape 39"/>
          <p:cNvSpPr/>
          <p:nvPr/>
        </p:nvSpPr>
        <p:spPr>
          <a:xfrm>
            <a:off x="7086600" y="3703320"/>
            <a:ext cx="274320" cy="274320"/>
          </a:xfrm>
          <a:prstGeom prst="ellipse">
            <a:avLst/>
          </a:prstGeom>
          <a:solidFill>
            <a:srgbClr val="D93A2E"/>
          </a:solidFill>
          <a:ln/>
        </p:spPr>
      </p:sp>
      <p:sp>
        <p:nvSpPr>
          <p:cNvPr id="42" name="Shape 40"/>
          <p:cNvSpPr/>
          <p:nvPr/>
        </p:nvSpPr>
        <p:spPr>
          <a:xfrm>
            <a:off x="8732520" y="3703320"/>
            <a:ext cx="274320" cy="274320"/>
          </a:xfrm>
          <a:prstGeom prst="ellipse">
            <a:avLst/>
          </a:prstGeom>
          <a:solidFill>
            <a:srgbClr val="D93A2E"/>
          </a:solidFill>
          <a:ln/>
        </p:spPr>
      </p:sp>
      <p:sp>
        <p:nvSpPr>
          <p:cNvPr id="43" name="Shape 41"/>
          <p:cNvSpPr/>
          <p:nvPr/>
        </p:nvSpPr>
        <p:spPr>
          <a:xfrm>
            <a:off x="9829800" y="3703320"/>
            <a:ext cx="274320" cy="274320"/>
          </a:xfrm>
          <a:prstGeom prst="ellipse">
            <a:avLst/>
          </a:prstGeom>
          <a:solidFill>
            <a:srgbClr val="D93A2E"/>
          </a:solidFill>
          <a:ln/>
        </p:spPr>
      </p:sp>
      <p:sp>
        <p:nvSpPr>
          <p:cNvPr id="44" name="Shape 42"/>
          <p:cNvSpPr/>
          <p:nvPr/>
        </p:nvSpPr>
        <p:spPr>
          <a:xfrm>
            <a:off x="8732520" y="4800600"/>
            <a:ext cx="274320" cy="274320"/>
          </a:xfrm>
          <a:prstGeom prst="ellipse">
            <a:avLst/>
          </a:prstGeom>
          <a:solidFill>
            <a:srgbClr val="D93A2E"/>
          </a:solidFill>
          <a:ln/>
        </p:spPr>
      </p:sp>
      <p:sp>
        <p:nvSpPr>
          <p:cNvPr id="45" name="Text 43"/>
          <p:cNvSpPr/>
          <p:nvPr/>
        </p:nvSpPr>
        <p:spPr>
          <a:xfrm>
            <a:off x="6949440" y="5349240"/>
            <a:ext cx="4480560" cy="457200"/>
          </a:xfrm>
          <a:prstGeom prst="rect">
            <a:avLst/>
          </a:prstGeom>
          <a:noFill/>
          <a:ln/>
        </p:spPr>
        <p:txBody>
          <a:bodyPr wrap="square" lIns="0" tIns="0" rIns="0" bIns="0" rtlCol="0" anchor="ctr"/>
          <a:lstStyle/>
          <a:p>
            <a:pPr indent="0" marL="0">
              <a:buNone/>
            </a:pPr>
            <a:r>
              <a:rPr lang="en-US" sz="1150" i="1" dirty="0">
                <a:solidFill>
                  <a:srgbClr val="6B7480"/>
                </a:solidFill>
                <a:latin typeface="Calibri" pitchFamily="34" charset="0"/>
                <a:ea typeface="Calibri" pitchFamily="34" charset="-122"/>
                <a:cs typeface="Calibri" pitchFamily="34" charset="-120"/>
              </a:rPr>
              <a:t>The map. Red marks the five intersections where a decision is made.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15181D"/>
                </a:solidFill>
                <a:latin typeface="Cambria" pitchFamily="34" charset="0"/>
                <a:ea typeface="Cambria" pitchFamily="34" charset="-122"/>
                <a:cs typeface="Cambria" pitchFamily="34" charset="-120"/>
              </a:rPr>
              <a:t>How the pieces fit together</a:t>
            </a:r>
            <a:endParaRPr lang="en-US" sz="3400" dirty="0"/>
          </a:p>
        </p:txBody>
      </p:sp>
      <p:sp>
        <p:nvSpPr>
          <p:cNvPr id="3" name="Shape 1"/>
          <p:cNvSpPr/>
          <p:nvPr/>
        </p:nvSpPr>
        <p:spPr>
          <a:xfrm>
            <a:off x="640080" y="1417320"/>
            <a:ext cx="2377440" cy="2286000"/>
          </a:xfrm>
          <a:prstGeom prst="roundRect">
            <a:avLst>
              <a:gd name="adj" fmla="val 3600"/>
            </a:avLst>
          </a:prstGeom>
          <a:solidFill>
            <a:srgbClr val="F4F5F6"/>
          </a:solidFill>
          <a:ln w="12700">
            <a:solidFill>
              <a:srgbClr val="F4F5F6"/>
            </a:solidFill>
            <a:prstDash val="solid"/>
          </a:ln>
        </p:spPr>
      </p:sp>
      <p:sp>
        <p:nvSpPr>
          <p:cNvPr id="4" name="Text 2"/>
          <p:cNvSpPr/>
          <p:nvPr/>
        </p:nvSpPr>
        <p:spPr>
          <a:xfrm>
            <a:off x="877824" y="1719072"/>
            <a:ext cx="1920240" cy="292608"/>
          </a:xfrm>
          <a:prstGeom prst="rect">
            <a:avLst/>
          </a:prstGeom>
          <a:noFill/>
          <a:ln/>
        </p:spPr>
        <p:txBody>
          <a:bodyPr wrap="square" lIns="0" tIns="0" rIns="0" bIns="0"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BROWSER</a:t>
            </a:r>
            <a:endParaRPr lang="en-US" sz="1100" dirty="0"/>
          </a:p>
        </p:txBody>
      </p:sp>
      <p:sp>
        <p:nvSpPr>
          <p:cNvPr id="5" name="Text 3"/>
          <p:cNvSpPr/>
          <p:nvPr/>
        </p:nvSpPr>
        <p:spPr>
          <a:xfrm>
            <a:off x="877824" y="2066544"/>
            <a:ext cx="1965960" cy="365760"/>
          </a:xfrm>
          <a:prstGeom prst="rect">
            <a:avLst/>
          </a:prstGeom>
          <a:noFill/>
          <a:ln/>
        </p:spPr>
        <p:txBody>
          <a:bodyPr wrap="square" lIns="0" tIns="0" rIns="0" bIns="0" rtlCol="0" anchor="ctr"/>
          <a:lstStyle/>
          <a:p>
            <a:pPr indent="0" marL="0">
              <a:buNone/>
            </a:pPr>
            <a:r>
              <a:rPr lang="en-US" sz="1500" b="1" dirty="0">
                <a:solidFill>
                  <a:srgbClr val="15181D"/>
                </a:solidFill>
                <a:latin typeface="Calibri" pitchFamily="34" charset="0"/>
                <a:ea typeface="Calibri" pitchFamily="34" charset="-122"/>
                <a:cs typeface="Calibri" pitchFamily="34" charset="-120"/>
              </a:rPr>
              <a:t>map_ui.html</a:t>
            </a:r>
            <a:endParaRPr lang="en-US" sz="1500" dirty="0"/>
          </a:p>
        </p:txBody>
      </p:sp>
      <p:sp>
        <p:nvSpPr>
          <p:cNvPr id="6" name="Text 4"/>
          <p:cNvSpPr/>
          <p:nvPr/>
        </p:nvSpPr>
        <p:spPr>
          <a:xfrm>
            <a:off x="877824" y="2505456"/>
            <a:ext cx="1938528" cy="914400"/>
          </a:xfrm>
          <a:prstGeom prst="rect">
            <a:avLst/>
          </a:prstGeom>
          <a:noFill/>
          <a:ln/>
        </p:spPr>
        <p:txBody>
          <a:bodyPr wrap="square" lIns="0" tIns="0" rIns="0" bIns="0" rtlCol="0" anchor="ctr"/>
          <a:lstStyle/>
          <a:p>
            <a:pPr indent="0" marL="0">
              <a:lnSpc>
                <a:spcPts val="1600"/>
              </a:lnSpc>
              <a:buNone/>
            </a:pPr>
            <a:r>
              <a:rPr lang="en-US" sz="1250" dirty="0">
                <a:solidFill>
                  <a:srgbClr val="6B7480"/>
                </a:solidFill>
                <a:latin typeface="Calibri" pitchFamily="34" charset="0"/>
                <a:ea typeface="Calibri" pitchFamily="34" charset="-122"/>
                <a:cs typeface="Calibri" pitchFamily="34" charset="-120"/>
              </a:rPr>
              <a:t>click start, facing,</a:t>
            </a:r>
            <a:endParaRPr lang="en-US" sz="1250" dirty="0"/>
          </a:p>
          <a:p>
            <a:pPr indent="0" marL="0">
              <a:lnSpc>
                <a:spcPts val="1600"/>
              </a:lnSpc>
              <a:buNone/>
            </a:pPr>
            <a:r>
              <a:rPr lang="en-US" sz="1250" dirty="0">
                <a:solidFill>
                  <a:srgbClr val="6B7480"/>
                </a:solidFill>
                <a:latin typeface="Calibri" pitchFamily="34" charset="0"/>
                <a:ea typeface="Calibri" pitchFamily="34" charset="-122"/>
                <a:cs typeface="Calibri" pitchFamily="34" charset="-120"/>
              </a:rPr>
              <a:t>destination</a:t>
            </a:r>
            <a:endParaRPr lang="en-US" sz="1250" dirty="0"/>
          </a:p>
        </p:txBody>
      </p:sp>
      <p:sp>
        <p:nvSpPr>
          <p:cNvPr id="7" name="Text 5"/>
          <p:cNvSpPr/>
          <p:nvPr/>
        </p:nvSpPr>
        <p:spPr>
          <a:xfrm>
            <a:off x="3017520" y="2331720"/>
            <a:ext cx="457200" cy="365760"/>
          </a:xfrm>
          <a:prstGeom prst="rect">
            <a:avLst/>
          </a:prstGeom>
          <a:noFill/>
          <a:ln/>
        </p:spPr>
        <p:txBody>
          <a:bodyPr wrap="square" lIns="0" tIns="0" rIns="0" bIns="0" rtlCol="0" anchor="ctr"/>
          <a:lstStyle/>
          <a:p>
            <a:pPr algn="ctr" indent="0" marL="0">
              <a:buNone/>
            </a:pPr>
            <a:r>
              <a:rPr lang="en-US" sz="2000" b="1" dirty="0">
                <a:solidFill>
                  <a:srgbClr val="F2C012"/>
                </a:solidFill>
                <a:latin typeface="Calibri" pitchFamily="34" charset="0"/>
                <a:ea typeface="Calibri" pitchFamily="34" charset="-122"/>
                <a:cs typeface="Calibri" pitchFamily="34" charset="-120"/>
              </a:rPr>
              <a:t>&gt;</a:t>
            </a:r>
            <a:endParaRPr lang="en-US" sz="2000" dirty="0"/>
          </a:p>
        </p:txBody>
      </p:sp>
      <p:sp>
        <p:nvSpPr>
          <p:cNvPr id="8" name="Shape 6"/>
          <p:cNvSpPr/>
          <p:nvPr/>
        </p:nvSpPr>
        <p:spPr>
          <a:xfrm>
            <a:off x="3474720" y="1417320"/>
            <a:ext cx="2377440" cy="2286000"/>
          </a:xfrm>
          <a:prstGeom prst="roundRect">
            <a:avLst>
              <a:gd name="adj" fmla="val 3600"/>
            </a:avLst>
          </a:prstGeom>
          <a:solidFill>
            <a:srgbClr val="F4F5F6"/>
          </a:solidFill>
          <a:ln w="12700">
            <a:solidFill>
              <a:srgbClr val="F4F5F6"/>
            </a:solidFill>
            <a:prstDash val="solid"/>
          </a:ln>
        </p:spPr>
      </p:sp>
      <p:sp>
        <p:nvSpPr>
          <p:cNvPr id="9" name="Text 7"/>
          <p:cNvSpPr/>
          <p:nvPr/>
        </p:nvSpPr>
        <p:spPr>
          <a:xfrm>
            <a:off x="3712464" y="1719072"/>
            <a:ext cx="1920240" cy="292608"/>
          </a:xfrm>
          <a:prstGeom prst="rect">
            <a:avLst/>
          </a:prstGeom>
          <a:noFill/>
          <a:ln/>
        </p:spPr>
        <p:txBody>
          <a:bodyPr wrap="square" lIns="0" tIns="0" rIns="0" bIns="0"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PLANNER</a:t>
            </a:r>
            <a:endParaRPr lang="en-US" sz="1100" dirty="0"/>
          </a:p>
        </p:txBody>
      </p:sp>
      <p:sp>
        <p:nvSpPr>
          <p:cNvPr id="10" name="Text 8"/>
          <p:cNvSpPr/>
          <p:nvPr/>
        </p:nvSpPr>
        <p:spPr>
          <a:xfrm>
            <a:off x="3712464" y="2066544"/>
            <a:ext cx="1965960" cy="365760"/>
          </a:xfrm>
          <a:prstGeom prst="rect">
            <a:avLst/>
          </a:prstGeom>
          <a:noFill/>
          <a:ln/>
        </p:spPr>
        <p:txBody>
          <a:bodyPr wrap="square" lIns="0" tIns="0" rIns="0" bIns="0" rtlCol="0" anchor="ctr"/>
          <a:lstStyle/>
          <a:p>
            <a:pPr indent="0" marL="0">
              <a:buNone/>
            </a:pPr>
            <a:r>
              <a:rPr lang="en-US" sz="1500" b="1" dirty="0">
                <a:solidFill>
                  <a:srgbClr val="15181D"/>
                </a:solidFill>
                <a:latin typeface="Calibri" pitchFamily="34" charset="0"/>
                <a:ea typeface="Calibri" pitchFamily="34" charset="-122"/>
                <a:cs typeface="Calibri" pitchFamily="34" charset="-120"/>
              </a:rPr>
              <a:t>a_star.py</a:t>
            </a:r>
            <a:endParaRPr lang="en-US" sz="1500" dirty="0"/>
          </a:p>
        </p:txBody>
      </p:sp>
      <p:sp>
        <p:nvSpPr>
          <p:cNvPr id="11" name="Text 9"/>
          <p:cNvSpPr/>
          <p:nvPr/>
        </p:nvSpPr>
        <p:spPr>
          <a:xfrm>
            <a:off x="3712464" y="2505456"/>
            <a:ext cx="1938528" cy="914400"/>
          </a:xfrm>
          <a:prstGeom prst="rect">
            <a:avLst/>
          </a:prstGeom>
          <a:noFill/>
          <a:ln/>
        </p:spPr>
        <p:txBody>
          <a:bodyPr wrap="square" lIns="0" tIns="0" rIns="0" bIns="0" rtlCol="0" anchor="ctr"/>
          <a:lstStyle/>
          <a:p>
            <a:pPr indent="0" marL="0">
              <a:lnSpc>
                <a:spcPts val="1600"/>
              </a:lnSpc>
              <a:buNone/>
            </a:pPr>
            <a:r>
              <a:rPr lang="en-US" sz="1250" dirty="0">
                <a:solidFill>
                  <a:srgbClr val="6B7480"/>
                </a:solidFill>
                <a:latin typeface="Calibri" pitchFamily="34" charset="0"/>
                <a:ea typeface="Calibri" pitchFamily="34" charset="-122"/>
                <a:cs typeface="Calibri" pitchFamily="34" charset="-120"/>
              </a:rPr>
              <a:t>route becomes an</a:t>
            </a:r>
            <a:endParaRPr lang="en-US" sz="1250" dirty="0"/>
          </a:p>
          <a:p>
            <a:pPr indent="0" marL="0">
              <a:lnSpc>
                <a:spcPts val="1600"/>
              </a:lnSpc>
              <a:buNone/>
            </a:pPr>
            <a:r>
              <a:rPr lang="en-US" sz="1250" dirty="0">
                <a:solidFill>
                  <a:srgbClr val="6B7480"/>
                </a:solidFill>
                <a:latin typeface="Calibri" pitchFamily="34" charset="0"/>
                <a:ea typeface="Calibri" pitchFamily="34" charset="-122"/>
                <a:cs typeface="Calibri" pitchFamily="34" charset="-120"/>
              </a:rPr>
              <a:t>ordered turn list</a:t>
            </a:r>
            <a:endParaRPr lang="en-US" sz="1250" dirty="0"/>
          </a:p>
        </p:txBody>
      </p:sp>
      <p:sp>
        <p:nvSpPr>
          <p:cNvPr id="12" name="Text 10"/>
          <p:cNvSpPr/>
          <p:nvPr/>
        </p:nvSpPr>
        <p:spPr>
          <a:xfrm>
            <a:off x="5852160" y="2331720"/>
            <a:ext cx="457200" cy="365760"/>
          </a:xfrm>
          <a:prstGeom prst="rect">
            <a:avLst/>
          </a:prstGeom>
          <a:noFill/>
          <a:ln/>
        </p:spPr>
        <p:txBody>
          <a:bodyPr wrap="square" lIns="0" tIns="0" rIns="0" bIns="0" rtlCol="0" anchor="ctr"/>
          <a:lstStyle/>
          <a:p>
            <a:pPr algn="ctr" indent="0" marL="0">
              <a:buNone/>
            </a:pPr>
            <a:r>
              <a:rPr lang="en-US" sz="2000" b="1" dirty="0">
                <a:solidFill>
                  <a:srgbClr val="F2C012"/>
                </a:solidFill>
                <a:latin typeface="Calibri" pitchFamily="34" charset="0"/>
                <a:ea typeface="Calibri" pitchFamily="34" charset="-122"/>
                <a:cs typeface="Calibri" pitchFamily="34" charset="-120"/>
              </a:rPr>
              <a:t>&gt;</a:t>
            </a:r>
            <a:endParaRPr lang="en-US" sz="2000" dirty="0"/>
          </a:p>
        </p:txBody>
      </p:sp>
      <p:sp>
        <p:nvSpPr>
          <p:cNvPr id="13" name="Shape 11"/>
          <p:cNvSpPr/>
          <p:nvPr/>
        </p:nvSpPr>
        <p:spPr>
          <a:xfrm>
            <a:off x="6309360" y="1417320"/>
            <a:ext cx="2377440" cy="2286000"/>
          </a:xfrm>
          <a:prstGeom prst="roundRect">
            <a:avLst>
              <a:gd name="adj" fmla="val 3600"/>
            </a:avLst>
          </a:prstGeom>
          <a:solidFill>
            <a:srgbClr val="F4F5F6"/>
          </a:solidFill>
          <a:ln w="12700">
            <a:solidFill>
              <a:srgbClr val="F4F5F6"/>
            </a:solidFill>
            <a:prstDash val="solid"/>
          </a:ln>
        </p:spPr>
      </p:sp>
      <p:sp>
        <p:nvSpPr>
          <p:cNvPr id="14" name="Text 12"/>
          <p:cNvSpPr/>
          <p:nvPr/>
        </p:nvSpPr>
        <p:spPr>
          <a:xfrm>
            <a:off x="6547104" y="1719072"/>
            <a:ext cx="1920240" cy="292608"/>
          </a:xfrm>
          <a:prstGeom prst="rect">
            <a:avLst/>
          </a:prstGeom>
          <a:noFill/>
          <a:ln/>
        </p:spPr>
        <p:txBody>
          <a:bodyPr wrap="square" lIns="0" tIns="0" rIns="0" bIns="0" rtlCol="0" anchor="ctr"/>
          <a:lstStyle/>
          <a:p>
            <a:pPr indent="0" marL="0">
              <a:buNone/>
            </a:pPr>
            <a:r>
              <a:rPr lang="en-US" sz="1100" b="1" spc="100" kern="0" dirty="0">
                <a:solidFill>
                  <a:srgbClr val="F2C012"/>
                </a:solidFill>
                <a:latin typeface="Calibri" pitchFamily="34" charset="0"/>
                <a:ea typeface="Calibri" pitchFamily="34" charset="-122"/>
                <a:cs typeface="Calibri" pitchFamily="34" charset="-120"/>
              </a:rPr>
              <a:t>ROBOT</a:t>
            </a:r>
            <a:endParaRPr lang="en-US" sz="1100" dirty="0"/>
          </a:p>
        </p:txBody>
      </p:sp>
      <p:sp>
        <p:nvSpPr>
          <p:cNvPr id="15" name="Text 13"/>
          <p:cNvSpPr/>
          <p:nvPr/>
        </p:nvSpPr>
        <p:spPr>
          <a:xfrm>
            <a:off x="6547104" y="2066544"/>
            <a:ext cx="1965960" cy="365760"/>
          </a:xfrm>
          <a:prstGeom prst="rect">
            <a:avLst/>
          </a:prstGeom>
          <a:noFill/>
          <a:ln/>
        </p:spPr>
        <p:txBody>
          <a:bodyPr wrap="square" lIns="0" tIns="0" rIns="0" bIns="0" rtlCol="0" anchor="ctr"/>
          <a:lstStyle/>
          <a:p>
            <a:pPr indent="0" marL="0">
              <a:buNone/>
            </a:pPr>
            <a:r>
              <a:rPr lang="en-US" sz="1500" b="1" dirty="0">
                <a:solidFill>
                  <a:srgbClr val="15181D"/>
                </a:solidFill>
                <a:latin typeface="Calibri" pitchFamily="34" charset="0"/>
                <a:ea typeface="Calibri" pitchFamily="34" charset="-122"/>
                <a:cs typeface="Calibri" pitchFamily="34" charset="-120"/>
              </a:rPr>
              <a:t>navigator.py</a:t>
            </a:r>
            <a:endParaRPr lang="en-US" sz="1500" dirty="0"/>
          </a:p>
        </p:txBody>
      </p:sp>
      <p:sp>
        <p:nvSpPr>
          <p:cNvPr id="16" name="Text 14"/>
          <p:cNvSpPr/>
          <p:nvPr/>
        </p:nvSpPr>
        <p:spPr>
          <a:xfrm>
            <a:off x="6547104" y="2505456"/>
            <a:ext cx="1938528" cy="914400"/>
          </a:xfrm>
          <a:prstGeom prst="rect">
            <a:avLst/>
          </a:prstGeom>
          <a:noFill/>
          <a:ln/>
        </p:spPr>
        <p:txBody>
          <a:bodyPr wrap="square" lIns="0" tIns="0" rIns="0" bIns="0" rtlCol="0" anchor="ctr"/>
          <a:lstStyle/>
          <a:p>
            <a:pPr indent="0" marL="0">
              <a:lnSpc>
                <a:spcPts val="1600"/>
              </a:lnSpc>
              <a:buNone/>
            </a:pPr>
            <a:r>
              <a:rPr lang="en-US" sz="1250" dirty="0">
                <a:solidFill>
                  <a:srgbClr val="6B7480"/>
                </a:solidFill>
                <a:latin typeface="Calibri" pitchFamily="34" charset="0"/>
                <a:ea typeface="Calibri" pitchFamily="34" charset="-122"/>
                <a:cs typeface="Calibri" pitchFamily="34" charset="-120"/>
              </a:rPr>
              <a:t>drives the route</a:t>
            </a:r>
            <a:endParaRPr lang="en-US" sz="1250" dirty="0"/>
          </a:p>
          <a:p>
            <a:pPr indent="0" marL="0">
              <a:lnSpc>
                <a:spcPts val="1600"/>
              </a:lnSpc>
              <a:buNone/>
            </a:pPr>
            <a:r>
              <a:rPr lang="en-US" sz="1250" dirty="0">
                <a:solidFill>
                  <a:srgbClr val="6B7480"/>
                </a:solidFill>
                <a:latin typeface="Calibri" pitchFamily="34" charset="0"/>
                <a:ea typeface="Calibri" pitchFamily="34" charset="-122"/>
                <a:cs typeface="Calibri" pitchFamily="34" charset="-120"/>
              </a:rPr>
              <a:t>on duck4</a:t>
            </a:r>
            <a:endParaRPr lang="en-US" sz="1250" dirty="0"/>
          </a:p>
        </p:txBody>
      </p:sp>
      <p:sp>
        <p:nvSpPr>
          <p:cNvPr id="17" name="Text 15"/>
          <p:cNvSpPr/>
          <p:nvPr/>
        </p:nvSpPr>
        <p:spPr>
          <a:xfrm>
            <a:off x="8686800" y="2331720"/>
            <a:ext cx="457200" cy="365760"/>
          </a:xfrm>
          <a:prstGeom prst="rect">
            <a:avLst/>
          </a:prstGeom>
          <a:noFill/>
          <a:ln/>
        </p:spPr>
        <p:txBody>
          <a:bodyPr wrap="square" lIns="0" tIns="0" rIns="0" bIns="0" rtlCol="0" anchor="ctr"/>
          <a:lstStyle/>
          <a:p>
            <a:pPr algn="ctr" indent="0" marL="0">
              <a:buNone/>
            </a:pPr>
            <a:r>
              <a:rPr lang="en-US" sz="2000" b="1" dirty="0">
                <a:solidFill>
                  <a:srgbClr val="F2C012"/>
                </a:solidFill>
                <a:latin typeface="Calibri" pitchFamily="34" charset="0"/>
                <a:ea typeface="Calibri" pitchFamily="34" charset="-122"/>
                <a:cs typeface="Calibri" pitchFamily="34" charset="-120"/>
              </a:rPr>
              <a:t>&gt;</a:t>
            </a:r>
            <a:endParaRPr lang="en-US" sz="2000" dirty="0"/>
          </a:p>
        </p:txBody>
      </p:sp>
      <p:sp>
        <p:nvSpPr>
          <p:cNvPr id="18" name="Shape 16"/>
          <p:cNvSpPr/>
          <p:nvPr/>
        </p:nvSpPr>
        <p:spPr>
          <a:xfrm>
            <a:off x="9144000" y="1417320"/>
            <a:ext cx="2377440" cy="2286000"/>
          </a:xfrm>
          <a:prstGeom prst="roundRect">
            <a:avLst>
              <a:gd name="adj" fmla="val 3600"/>
            </a:avLst>
          </a:prstGeom>
          <a:solidFill>
            <a:srgbClr val="F4F5F6"/>
          </a:solidFill>
          <a:ln w="12700">
            <a:solidFill>
              <a:srgbClr val="F4F5F6"/>
            </a:solidFill>
            <a:prstDash val="solid"/>
          </a:ln>
        </p:spPr>
      </p:sp>
      <p:sp>
        <p:nvSpPr>
          <p:cNvPr id="19" name="Text 17"/>
          <p:cNvSpPr/>
          <p:nvPr/>
        </p:nvSpPr>
        <p:spPr>
          <a:xfrm>
            <a:off x="9381744" y="1719072"/>
            <a:ext cx="1920240" cy="292608"/>
          </a:xfrm>
          <a:prstGeom prst="rect">
            <a:avLst/>
          </a:prstGeom>
          <a:noFill/>
          <a:ln/>
        </p:spPr>
        <p:txBody>
          <a:bodyPr wrap="square" lIns="0" tIns="0" rIns="0" bIns="0" rtlCol="0" anchor="ctr"/>
          <a:lstStyle/>
          <a:p>
            <a:pPr indent="0" marL="0">
              <a:buNone/>
            </a:pPr>
            <a:r>
              <a:rPr lang="en-US" sz="1100" b="1" spc="100" kern="0" dirty="0">
                <a:solidFill>
                  <a:srgbClr val="6B7480"/>
                </a:solidFill>
                <a:latin typeface="Calibri" pitchFamily="34" charset="0"/>
                <a:ea typeface="Calibri" pitchFamily="34" charset="-122"/>
                <a:cs typeface="Calibri" pitchFamily="34" charset="-120"/>
              </a:rPr>
              <a:t>HARDWARE</a:t>
            </a:r>
            <a:endParaRPr lang="en-US" sz="1100" dirty="0"/>
          </a:p>
        </p:txBody>
      </p:sp>
      <p:sp>
        <p:nvSpPr>
          <p:cNvPr id="20" name="Text 18"/>
          <p:cNvSpPr/>
          <p:nvPr/>
        </p:nvSpPr>
        <p:spPr>
          <a:xfrm>
            <a:off x="9381744" y="2066544"/>
            <a:ext cx="1965960" cy="365760"/>
          </a:xfrm>
          <a:prstGeom prst="rect">
            <a:avLst/>
          </a:prstGeom>
          <a:noFill/>
          <a:ln/>
        </p:spPr>
        <p:txBody>
          <a:bodyPr wrap="square" lIns="0" tIns="0" rIns="0" bIns="0" rtlCol="0" anchor="ctr"/>
          <a:lstStyle/>
          <a:p>
            <a:pPr indent="0" marL="0">
              <a:buNone/>
            </a:pPr>
            <a:r>
              <a:rPr lang="en-US" sz="1500" b="1" dirty="0">
                <a:solidFill>
                  <a:srgbClr val="15181D"/>
                </a:solidFill>
                <a:latin typeface="Calibri" pitchFamily="34" charset="0"/>
                <a:ea typeface="Calibri" pitchFamily="34" charset="-122"/>
                <a:cs typeface="Calibri" pitchFamily="34" charset="-120"/>
              </a:rPr>
              <a:t>camera + ToF</a:t>
            </a:r>
            <a:endParaRPr lang="en-US" sz="1500" dirty="0"/>
          </a:p>
        </p:txBody>
      </p:sp>
      <p:sp>
        <p:nvSpPr>
          <p:cNvPr id="21" name="Text 19"/>
          <p:cNvSpPr/>
          <p:nvPr/>
        </p:nvSpPr>
        <p:spPr>
          <a:xfrm>
            <a:off x="9381744" y="2505456"/>
            <a:ext cx="1938528" cy="914400"/>
          </a:xfrm>
          <a:prstGeom prst="rect">
            <a:avLst/>
          </a:prstGeom>
          <a:noFill/>
          <a:ln/>
        </p:spPr>
        <p:txBody>
          <a:bodyPr wrap="square" lIns="0" tIns="0" rIns="0" bIns="0" rtlCol="0" anchor="ctr"/>
          <a:lstStyle/>
          <a:p>
            <a:pPr indent="0" marL="0">
              <a:lnSpc>
                <a:spcPts val="1600"/>
              </a:lnSpc>
              <a:buNone/>
            </a:pPr>
            <a:r>
              <a:rPr lang="en-US" sz="1250" dirty="0">
                <a:solidFill>
                  <a:srgbClr val="6B7480"/>
                </a:solidFill>
                <a:latin typeface="Calibri" pitchFamily="34" charset="0"/>
                <a:ea typeface="Calibri" pitchFamily="34" charset="-122"/>
                <a:cs typeface="Calibri" pitchFamily="34" charset="-120"/>
              </a:rPr>
              <a:t>lane lines, red lines,</a:t>
            </a:r>
            <a:endParaRPr lang="en-US" sz="1250" dirty="0"/>
          </a:p>
          <a:p>
            <a:pPr indent="0" marL="0">
              <a:lnSpc>
                <a:spcPts val="1600"/>
              </a:lnSpc>
              <a:buNone/>
            </a:pPr>
            <a:r>
              <a:rPr lang="en-US" sz="1250" dirty="0">
                <a:solidFill>
                  <a:srgbClr val="6B7480"/>
                </a:solidFill>
                <a:latin typeface="Calibri" pitchFamily="34" charset="0"/>
                <a:ea typeface="Calibri" pitchFamily="34" charset="-122"/>
                <a:cs typeface="Calibri" pitchFamily="34" charset="-120"/>
              </a:rPr>
              <a:t>range ahead</a:t>
            </a:r>
            <a:endParaRPr lang="en-US" sz="1250" dirty="0"/>
          </a:p>
        </p:txBody>
      </p:sp>
      <p:sp>
        <p:nvSpPr>
          <p:cNvPr id="22" name="Shape 20"/>
          <p:cNvSpPr/>
          <p:nvPr/>
        </p:nvSpPr>
        <p:spPr>
          <a:xfrm>
            <a:off x="640080" y="4114800"/>
            <a:ext cx="10881360" cy="1600200"/>
          </a:xfrm>
          <a:prstGeom prst="roundRect">
            <a:avLst>
              <a:gd name="adj" fmla="val 5143"/>
            </a:avLst>
          </a:prstGeom>
          <a:solidFill>
            <a:srgbClr val="1F2428"/>
          </a:solidFill>
          <a:ln w="12700">
            <a:solidFill>
              <a:srgbClr val="1F2428"/>
            </a:solidFill>
            <a:prstDash val="solid"/>
          </a:ln>
        </p:spPr>
      </p:sp>
      <p:sp>
        <p:nvSpPr>
          <p:cNvPr id="23" name="Text 21"/>
          <p:cNvSpPr/>
          <p:nvPr/>
        </p:nvSpPr>
        <p:spPr>
          <a:xfrm>
            <a:off x="960120" y="4315968"/>
            <a:ext cx="5486400" cy="365760"/>
          </a:xfrm>
          <a:prstGeom prst="rect">
            <a:avLst/>
          </a:prstGeom>
          <a:noFill/>
          <a:ln/>
        </p:spPr>
        <p:txBody>
          <a:bodyPr wrap="square" lIns="0" tIns="0" rIns="0" bIns="0" rtlCol="0" anchor="ctr"/>
          <a:lstStyle/>
          <a:p>
            <a:pPr indent="0" marL="0">
              <a:buNone/>
            </a:pPr>
            <a:r>
              <a:rPr lang="en-US" sz="1600" b="1" dirty="0">
                <a:solidFill>
                  <a:srgbClr val="F2C012"/>
                </a:solidFill>
                <a:latin typeface="Calibri" pitchFamily="34" charset="0"/>
                <a:ea typeface="Calibri" pitchFamily="34" charset="-122"/>
                <a:cs typeface="Calibri" pitchFamily="34" charset="-120"/>
              </a:rPr>
              <a:t>One HTTP contract, unchanged</a:t>
            </a:r>
            <a:endParaRPr lang="en-US" sz="1600" dirty="0"/>
          </a:p>
        </p:txBody>
      </p:sp>
      <p:sp>
        <p:nvSpPr>
          <p:cNvPr id="24" name="Text 22"/>
          <p:cNvSpPr/>
          <p:nvPr/>
        </p:nvSpPr>
        <p:spPr>
          <a:xfrm>
            <a:off x="960120" y="4709160"/>
            <a:ext cx="10058400" cy="822960"/>
          </a:xfrm>
          <a:prstGeom prst="rect">
            <a:avLst/>
          </a:prstGeom>
          <a:noFill/>
          <a:ln/>
        </p:spPr>
        <p:txBody>
          <a:bodyPr wrap="square" lIns="0" tIns="0" rIns="0" bIns="0" rtlCol="0" anchor="ctr"/>
          <a:lstStyle/>
          <a:p>
            <a:pPr indent="0" marL="0">
              <a:lnSpc>
                <a:spcPts val="2000"/>
              </a:lnSpc>
              <a:buNone/>
            </a:pPr>
            <a:r>
              <a:rPr lang="en-US" sz="1300" dirty="0">
                <a:solidFill>
                  <a:srgbClr val="FFFFFF"/>
                </a:solidFill>
                <a:latin typeface="Consolas" pitchFamily="34" charset="0"/>
                <a:ea typeface="Consolas" pitchFamily="34" charset="-122"/>
                <a:cs typeface="Consolas" pitchFamily="34" charset="-120"/>
              </a:rPr>
              <a:t>POST /navigate   {"commands": ["right", "straight", "left", "stop"]}</a:t>
            </a:r>
            <a:endParaRPr lang="en-US" sz="1300" dirty="0"/>
          </a:p>
          <a:p>
            <a:pPr indent="0" marL="0">
              <a:lnSpc>
                <a:spcPts val="2000"/>
              </a:lnSpc>
              <a:buNone/>
            </a:pPr>
            <a:r>
              <a:rPr lang="en-US" sz="1300" dirty="0">
                <a:solidFill>
                  <a:srgbClr val="FFFFFF"/>
                </a:solidFill>
                <a:latin typeface="Consolas" pitchFamily="34" charset="0"/>
                <a:ea typeface="Consolas" pitchFamily="34" charset="-122"/>
                <a:cs typeface="Consolas" pitchFamily="34" charset="-120"/>
              </a:rPr>
              <a:t>GET /status        POST /abort        POST /follow</a:t>
            </a:r>
            <a:endParaRPr lang="en-US" sz="1300" dirty="0"/>
          </a:p>
        </p:txBody>
      </p:sp>
      <p:sp>
        <p:nvSpPr>
          <p:cNvPr id="25" name="Text 23"/>
          <p:cNvSpPr/>
          <p:nvPr/>
        </p:nvSpPr>
        <p:spPr>
          <a:xfrm>
            <a:off x="640080" y="5870448"/>
            <a:ext cx="10881360" cy="457200"/>
          </a:xfrm>
          <a:prstGeom prst="rect">
            <a:avLst/>
          </a:prstGeom>
          <a:noFill/>
          <a:ln/>
        </p:spPr>
        <p:txBody>
          <a:bodyPr wrap="square" lIns="0" tIns="0" rIns="0" bIns="0" rtlCol="0" anchor="ctr"/>
          <a:lstStyle/>
          <a:p>
            <a:pPr indent="0" marL="0">
              <a:buNone/>
            </a:pPr>
            <a:r>
              <a:rPr lang="en-US" sz="1200" i="1" dirty="0">
                <a:solidFill>
                  <a:srgbClr val="6B7480"/>
                </a:solidFill>
                <a:latin typeface="Calibri" pitchFamily="34" charset="0"/>
                <a:ea typeface="Calibri" pitchFamily="34" charset="-122"/>
                <a:cs typeface="Calibri" pitchFamily="34" charset="-120"/>
              </a:rPr>
              <a:t>The robot serves the interface a teammate had already defined, so the app needed no changes. It also serves the planner page itself.</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2428"/>
        </a:solidFill>
      </p:bgPr>
    </p:bg>
    <p:spTree>
      <p:nvGrpSpPr>
        <p:cNvPr id="1" name=""/>
        <p:cNvGrpSpPr/>
        <p:nvPr/>
      </p:nvGrpSpPr>
      <p:grpSpPr>
        <a:xfrm>
          <a:off x="0" y="0"/>
          <a:ext cx="0" cy="0"/>
          <a:chOff x="0" y="0"/>
          <a:chExt cx="0" cy="0"/>
        </a:xfrm>
      </p:grpSpPr>
      <p:sp>
        <p:nvSpPr>
          <p:cNvPr id="2" name="Text 0"/>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Planning: the state is not just the tile</a:t>
            </a:r>
            <a:endParaRPr lang="en-US" sz="3400" dirty="0"/>
          </a:p>
        </p:txBody>
      </p:sp>
      <p:sp>
        <p:nvSpPr>
          <p:cNvPr id="3" name="Text 1"/>
          <p:cNvSpPr/>
          <p:nvPr/>
        </p:nvSpPr>
        <p:spPr>
          <a:xfrm>
            <a:off x="640080" y="1234440"/>
            <a:ext cx="10515600" cy="411480"/>
          </a:xfrm>
          <a:prstGeom prst="rect">
            <a:avLst/>
          </a:prstGeom>
          <a:noFill/>
          <a:ln/>
        </p:spPr>
        <p:txBody>
          <a:bodyPr wrap="square" lIns="0" tIns="0" rIns="0" bIns="0" rtlCol="0" anchor="ctr"/>
          <a:lstStyle/>
          <a:p>
            <a:pPr indent="0" marL="0">
              <a:buNone/>
            </a:pPr>
            <a:r>
              <a:rPr lang="en-US" sz="1700" dirty="0">
                <a:solidFill>
                  <a:srgbClr val="F2C012"/>
                </a:solidFill>
                <a:latin typeface="Calibri" pitchFamily="34" charset="0"/>
                <a:ea typeface="Calibri" pitchFamily="34" charset="-122"/>
                <a:cs typeface="Calibri" pitchFamily="34" charset="-120"/>
              </a:rPr>
              <a:t>A route made of tiles cannot tell left from right.</a:t>
            </a:r>
            <a:endParaRPr lang="en-US" sz="1700" dirty="0"/>
          </a:p>
        </p:txBody>
      </p:sp>
      <p:sp>
        <p:nvSpPr>
          <p:cNvPr id="4" name="Shape 2"/>
          <p:cNvSpPr/>
          <p:nvPr/>
        </p:nvSpPr>
        <p:spPr>
          <a:xfrm>
            <a:off x="640080" y="1874520"/>
            <a:ext cx="5394960" cy="2331720"/>
          </a:xfrm>
          <a:prstGeom prst="roundRect">
            <a:avLst>
              <a:gd name="adj" fmla="val 3529"/>
            </a:avLst>
          </a:prstGeom>
          <a:solidFill>
            <a:srgbClr val="2C3238"/>
          </a:solidFill>
          <a:ln w="12700">
            <a:solidFill>
              <a:srgbClr val="2C3238"/>
            </a:solidFill>
            <a:prstDash val="solid"/>
          </a:ln>
        </p:spPr>
      </p:sp>
      <p:sp>
        <p:nvSpPr>
          <p:cNvPr id="5" name="Text 3"/>
          <p:cNvSpPr/>
          <p:nvPr/>
        </p:nvSpPr>
        <p:spPr>
          <a:xfrm>
            <a:off x="914400" y="2084832"/>
            <a:ext cx="484632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Search over  (row, col)</a:t>
            </a:r>
            <a:endParaRPr lang="en-US" sz="1700" dirty="0"/>
          </a:p>
        </p:txBody>
      </p:sp>
      <p:sp>
        <p:nvSpPr>
          <p:cNvPr id="6" name="Text 4"/>
          <p:cNvSpPr/>
          <p:nvPr/>
        </p:nvSpPr>
        <p:spPr>
          <a:xfrm>
            <a:off x="914400" y="2560320"/>
            <a:ext cx="4846320" cy="1463040"/>
          </a:xfrm>
          <a:prstGeom prst="rect">
            <a:avLst/>
          </a:prstGeom>
          <a:noFill/>
          <a:ln/>
        </p:spPr>
        <p:txBody>
          <a:bodyPr wrap="square" lIns="0" tIns="0" rIns="0" bIns="0" rtlCol="0" anchor="ctr"/>
          <a:lstStyle/>
          <a:p>
            <a:pPr marL="342900" indent="-342900">
              <a:spcAft>
                <a:spcPts val="700"/>
              </a:spcAft>
              <a:buSzPct val="100000"/>
              <a:buChar char="•"/>
            </a:pPr>
            <a:r>
              <a:rPr lang="en-US" sz="1350" dirty="0">
                <a:solidFill>
                  <a:srgbClr val="C7CED6"/>
                </a:solidFill>
                <a:latin typeface="Calibri" pitchFamily="34" charset="0"/>
                <a:ea typeface="Calibri" pitchFamily="34" charset="-122"/>
                <a:cs typeface="Calibri" pitchFamily="34" charset="-120"/>
              </a:rPr>
              <a:t>Gives an ordered list of tiles</a:t>
            </a:r>
            <a:endParaRPr lang="en-US" sz="1350" dirty="0"/>
          </a:p>
          <a:p>
            <a:pPr marL="342900" indent="-342900">
              <a:spcAft>
                <a:spcPts val="700"/>
              </a:spcAft>
              <a:buSzPct val="100000"/>
              <a:buChar char="•"/>
            </a:pPr>
            <a:r>
              <a:rPr lang="en-US" sz="1350" dirty="0">
                <a:solidFill>
                  <a:srgbClr val="C7CED6"/>
                </a:solidFill>
                <a:latin typeface="Calibri" pitchFamily="34" charset="0"/>
                <a:ea typeface="Calibri" pitchFamily="34" charset="-122"/>
                <a:cs typeface="Calibri" pitchFamily="34" charset="-120"/>
              </a:rPr>
              <a:t>Says nothing about which way the robot faces</a:t>
            </a:r>
            <a:endParaRPr lang="en-US" sz="1350" dirty="0"/>
          </a:p>
          <a:p>
            <a:pPr marL="342900" indent="-342900">
              <a:spcAft>
                <a:spcPts val="700"/>
              </a:spcAft>
              <a:buSzPct val="100000"/>
              <a:buChar char="•"/>
            </a:pPr>
            <a:r>
              <a:rPr lang="en-US" sz="1350" dirty="0">
                <a:solidFill>
                  <a:srgbClr val="C7CED6"/>
                </a:solidFill>
                <a:latin typeface="Calibri" pitchFamily="34" charset="0"/>
                <a:ea typeface="Calibri" pitchFamily="34" charset="-122"/>
                <a:cs typeface="Calibri" pitchFamily="34" charset="-120"/>
              </a:rPr>
              <a:t>Cannot be turned into commands</a:t>
            </a:r>
            <a:endParaRPr lang="en-US" sz="1350" dirty="0"/>
          </a:p>
        </p:txBody>
      </p:sp>
      <p:sp>
        <p:nvSpPr>
          <p:cNvPr id="7" name="Shape 5"/>
          <p:cNvSpPr/>
          <p:nvPr/>
        </p:nvSpPr>
        <p:spPr>
          <a:xfrm>
            <a:off x="6400800" y="1874520"/>
            <a:ext cx="5120640" cy="2331720"/>
          </a:xfrm>
          <a:prstGeom prst="roundRect">
            <a:avLst>
              <a:gd name="adj" fmla="val 3529"/>
            </a:avLst>
          </a:prstGeom>
          <a:solidFill>
            <a:srgbClr val="F2C012"/>
          </a:solidFill>
          <a:ln w="12700">
            <a:solidFill>
              <a:srgbClr val="F2C012"/>
            </a:solidFill>
            <a:prstDash val="solid"/>
          </a:ln>
        </p:spPr>
      </p:sp>
      <p:sp>
        <p:nvSpPr>
          <p:cNvPr id="8" name="Text 6"/>
          <p:cNvSpPr/>
          <p:nvPr/>
        </p:nvSpPr>
        <p:spPr>
          <a:xfrm>
            <a:off x="6675120" y="2084832"/>
            <a:ext cx="4572000" cy="411480"/>
          </a:xfrm>
          <a:prstGeom prst="rect">
            <a:avLst/>
          </a:prstGeom>
          <a:noFill/>
          <a:ln/>
        </p:spPr>
        <p:txBody>
          <a:bodyPr wrap="square" lIns="0" tIns="0" rIns="0" bIns="0" rtlCol="0" anchor="ctr"/>
          <a:lstStyle/>
          <a:p>
            <a:pPr indent="0" marL="0">
              <a:buNone/>
            </a:pPr>
            <a:r>
              <a:rPr lang="en-US" sz="1700" b="1" dirty="0">
                <a:solidFill>
                  <a:srgbClr val="1F2428"/>
                </a:solidFill>
                <a:latin typeface="Calibri" pitchFamily="34" charset="0"/>
                <a:ea typeface="Calibri" pitchFamily="34" charset="-122"/>
                <a:cs typeface="Calibri" pitchFamily="34" charset="-120"/>
              </a:rPr>
              <a:t>Search over  (row, col, facing)</a:t>
            </a:r>
            <a:endParaRPr lang="en-US" sz="1700" dirty="0"/>
          </a:p>
        </p:txBody>
      </p:sp>
      <p:sp>
        <p:nvSpPr>
          <p:cNvPr id="9" name="Text 7"/>
          <p:cNvSpPr/>
          <p:nvPr/>
        </p:nvSpPr>
        <p:spPr>
          <a:xfrm>
            <a:off x="6675120" y="25603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50" dirty="0">
                <a:solidFill>
                  <a:srgbClr val="3A2F06"/>
                </a:solidFill>
                <a:latin typeface="Calibri" pitchFamily="34" charset="0"/>
                <a:ea typeface="Calibri" pitchFamily="34" charset="-122"/>
                <a:cs typeface="Calibri" pitchFamily="34" charset="-120"/>
              </a:rPr>
              <a:t>Compare facing in with facing out</a:t>
            </a:r>
            <a:endParaRPr lang="en-US" sz="1350" dirty="0"/>
          </a:p>
          <a:p>
            <a:pPr marL="342900" indent="-342900">
              <a:spcAft>
                <a:spcPts val="700"/>
              </a:spcAft>
              <a:buSzPct val="100000"/>
              <a:buChar char="•"/>
            </a:pPr>
            <a:r>
              <a:rPr lang="en-US" sz="1350" dirty="0">
                <a:solidFill>
                  <a:srgbClr val="3A2F06"/>
                </a:solidFill>
                <a:latin typeface="Calibri" pitchFamily="34" charset="0"/>
                <a:ea typeface="Calibri" pitchFamily="34" charset="-122"/>
                <a:cs typeface="Calibri" pitchFamily="34" charset="-120"/>
              </a:rPr>
              <a:t>One step clockwise is a right turn</a:t>
            </a:r>
            <a:endParaRPr lang="en-US" sz="1350" dirty="0"/>
          </a:p>
          <a:p>
            <a:pPr marL="342900" indent="-342900">
              <a:spcAft>
                <a:spcPts val="700"/>
              </a:spcAft>
              <a:buSzPct val="100000"/>
              <a:buChar char="•"/>
            </a:pPr>
            <a:r>
              <a:rPr lang="en-US" sz="1350" dirty="0">
                <a:solidFill>
                  <a:srgbClr val="3A2F06"/>
                </a:solidFill>
                <a:latin typeface="Calibri" pitchFamily="34" charset="0"/>
                <a:ea typeface="Calibri" pitchFamily="34" charset="-122"/>
                <a:cs typeface="Calibri" pitchFamily="34" charset="-120"/>
              </a:rPr>
              <a:t>The turn list falls straight out</a:t>
            </a:r>
            <a:endParaRPr lang="en-US" sz="1350" dirty="0"/>
          </a:p>
        </p:txBody>
      </p:sp>
      <p:sp>
        <p:nvSpPr>
          <p:cNvPr id="10" name="Shape 8"/>
          <p:cNvSpPr/>
          <p:nvPr/>
        </p:nvSpPr>
        <p:spPr>
          <a:xfrm>
            <a:off x="640080" y="4572000"/>
            <a:ext cx="402336" cy="402336"/>
          </a:xfrm>
          <a:prstGeom prst="ellipse">
            <a:avLst/>
          </a:prstGeom>
          <a:solidFill>
            <a:srgbClr val="F2C012"/>
          </a:solidFill>
          <a:ln/>
        </p:spPr>
      </p:sp>
      <p:sp>
        <p:nvSpPr>
          <p:cNvPr id="11" name="Text 9"/>
          <p:cNvSpPr/>
          <p:nvPr/>
        </p:nvSpPr>
        <p:spPr>
          <a:xfrm>
            <a:off x="640080" y="4572000"/>
            <a:ext cx="402336" cy="402336"/>
          </a:xfrm>
          <a:prstGeom prst="rect">
            <a:avLst/>
          </a:prstGeom>
          <a:noFill/>
          <a:ln/>
        </p:spPr>
        <p:txBody>
          <a:bodyPr wrap="square" lIns="0" tIns="0" rIns="0" bIns="0" rtlCol="0" anchor="ctr"/>
          <a:lstStyle/>
          <a:p>
            <a:pPr algn="ctr" indent="0" marL="0">
              <a:buNone/>
            </a:pPr>
            <a:r>
              <a:rPr lang="en-US" sz="1300" b="1" dirty="0">
                <a:solidFill>
                  <a:srgbClr val="1F2428"/>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1234440" y="4526280"/>
            <a:ext cx="10241280" cy="777240"/>
          </a:xfrm>
          <a:prstGeom prst="rect">
            <a:avLst/>
          </a:prstGeom>
          <a:noFill/>
          <a:ln/>
        </p:spPr>
        <p:txBody>
          <a:bodyPr wrap="square" lIns="0" tIns="0" rIns="0" bIns="0" rtlCol="0" anchor="ctr"/>
          <a:lstStyle/>
          <a:p>
            <a:pPr indent="0" marL="0">
              <a:lnSpc>
                <a:spcPts val="2100"/>
              </a:lnSpc>
              <a:buNone/>
            </a:pPr>
            <a:r>
              <a:rPr lang="en-US" sz="1400" dirty="0">
                <a:solidFill>
                  <a:srgbClr val="FFFFFF"/>
                </a:solidFill>
                <a:latin typeface="Calibri" pitchFamily="34" charset="0"/>
                <a:ea typeface="Calibri" pitchFamily="34" charset="-122"/>
                <a:cs typeface="Calibri" pitchFamily="34" charset="-120"/>
              </a:rPr>
              <a:t>Commands are emitted only at the five intersections. Curves and straights are driven by lane following, so a command for one of those would shift every later turn onto the wrong junction.</a:t>
            </a:r>
            <a:endParaRPr lang="en-US" sz="1400" dirty="0"/>
          </a:p>
        </p:txBody>
      </p:sp>
      <p:sp>
        <p:nvSpPr>
          <p:cNvPr id="13" name="Text 11"/>
          <p:cNvSpPr/>
          <p:nvPr/>
        </p:nvSpPr>
        <p:spPr>
          <a:xfrm>
            <a:off x="1234440" y="5413248"/>
            <a:ext cx="10241280" cy="365760"/>
          </a:xfrm>
          <a:prstGeom prst="rect">
            <a:avLst/>
          </a:prstGeom>
          <a:noFill/>
          <a:ln/>
        </p:spPr>
        <p:txBody>
          <a:bodyPr wrap="square" lIns="0" tIns="0" rIns="0" bIns="0" rtlCol="0" anchor="ctr"/>
          <a:lstStyle/>
          <a:p>
            <a:pPr indent="0" marL="0">
              <a:buNone/>
            </a:pPr>
            <a:r>
              <a:rPr lang="en-US" sz="1250" i="1" dirty="0">
                <a:solidFill>
                  <a:srgbClr val="F2C012"/>
                </a:solidFill>
                <a:latin typeface="Calibri" pitchFamily="34" charset="0"/>
                <a:ea typeface="Calibri" pitchFamily="34" charset="-122"/>
                <a:cs typeface="Calibri" pitchFamily="34" charset="-120"/>
              </a:rPr>
              <a:t>Checked on all 1980 routes: every plan is well formed, and no plan contains a U-turn.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15181D"/>
                </a:solidFill>
                <a:latin typeface="Cambria" pitchFamily="34" charset="0"/>
                <a:ea typeface="Cambria" pitchFamily="34" charset="-122"/>
                <a:cs typeface="Cambria" pitchFamily="34" charset="-120"/>
              </a:rPr>
              <a:t>Lane following: a bug the road itself caused</a:t>
            </a:r>
            <a:endParaRPr lang="en-US" sz="3400" dirty="0"/>
          </a:p>
        </p:txBody>
      </p:sp>
      <p:sp>
        <p:nvSpPr>
          <p:cNvPr id="3" name="Text 1"/>
          <p:cNvSpPr/>
          <p:nvPr/>
        </p:nvSpPr>
        <p:spPr>
          <a:xfrm>
            <a:off x="640080" y="1207008"/>
            <a:ext cx="10515600" cy="365760"/>
          </a:xfrm>
          <a:prstGeom prst="rect">
            <a:avLst/>
          </a:prstGeom>
          <a:noFill/>
          <a:ln/>
        </p:spPr>
        <p:txBody>
          <a:bodyPr wrap="square" lIns="0" tIns="0" rIns="0" bIns="0" rtlCol="0" anchor="ctr"/>
          <a:lstStyle/>
          <a:p>
            <a:pPr indent="0" marL="0">
              <a:buNone/>
            </a:pPr>
            <a:r>
              <a:rPr lang="en-US" sz="1600" b="1" dirty="0">
                <a:solidFill>
                  <a:srgbClr val="D93A2E"/>
                </a:solidFill>
                <a:latin typeface="Calibri" pitchFamily="34" charset="0"/>
                <a:ea typeface="Calibri" pitchFamily="34" charset="-122"/>
                <a:cs typeface="Calibri" pitchFamily="34" charset="-120"/>
              </a:rPr>
              <a:t>On right-hand curves the robot steered left, into the oncoming lane.</a:t>
            </a:r>
            <a:endParaRPr lang="en-US" sz="1600" dirty="0"/>
          </a:p>
        </p:txBody>
      </p:sp>
      <p:sp>
        <p:nvSpPr>
          <p:cNvPr id="4" name="Shape 2"/>
          <p:cNvSpPr/>
          <p:nvPr/>
        </p:nvSpPr>
        <p:spPr>
          <a:xfrm>
            <a:off x="640080" y="1783080"/>
            <a:ext cx="5486400" cy="2194560"/>
          </a:xfrm>
          <a:prstGeom prst="roundRect">
            <a:avLst>
              <a:gd name="adj" fmla="val 3750"/>
            </a:avLst>
          </a:prstGeom>
          <a:solidFill>
            <a:srgbClr val="F4F5F6"/>
          </a:solidFill>
          <a:ln w="12700">
            <a:solidFill>
              <a:srgbClr val="F4F5F6"/>
            </a:solidFill>
            <a:prstDash val="solid"/>
          </a:ln>
        </p:spPr>
      </p:sp>
      <p:sp>
        <p:nvSpPr>
          <p:cNvPr id="5" name="Text 3"/>
          <p:cNvSpPr/>
          <p:nvPr/>
        </p:nvSpPr>
        <p:spPr>
          <a:xfrm>
            <a:off x="914400" y="1965960"/>
            <a:ext cx="4937760" cy="347472"/>
          </a:xfrm>
          <a:prstGeom prst="rect">
            <a:avLst/>
          </a:prstGeom>
          <a:noFill/>
          <a:ln/>
        </p:spPr>
        <p:txBody>
          <a:bodyPr wrap="square" lIns="0" tIns="0" rIns="0" bIns="0" rtlCol="0" anchor="ctr"/>
          <a:lstStyle/>
          <a:p>
            <a:pPr indent="0" marL="0">
              <a:buNone/>
            </a:pPr>
            <a:r>
              <a:rPr lang="en-US" sz="1500" b="1" dirty="0">
                <a:solidFill>
                  <a:srgbClr val="15181D"/>
                </a:solidFill>
                <a:latin typeface="Calibri" pitchFamily="34" charset="0"/>
                <a:ea typeface="Calibri" pitchFamily="34" charset="-122"/>
                <a:cs typeface="Calibri" pitchFamily="34" charset="-120"/>
              </a:rPr>
              <a:t>Cause</a:t>
            </a:r>
            <a:endParaRPr lang="en-US" sz="1500" dirty="0"/>
          </a:p>
        </p:txBody>
      </p:sp>
      <p:sp>
        <p:nvSpPr>
          <p:cNvPr id="6" name="Text 4"/>
          <p:cNvSpPr/>
          <p:nvPr/>
        </p:nvSpPr>
        <p:spPr>
          <a:xfrm>
            <a:off x="914400" y="2331720"/>
            <a:ext cx="4937760" cy="1463040"/>
          </a:xfrm>
          <a:prstGeom prst="rect">
            <a:avLst/>
          </a:prstGeom>
          <a:noFill/>
          <a:ln/>
        </p:spPr>
        <p:txBody>
          <a:bodyPr wrap="square" lIns="0" tIns="0" rIns="0" bIns="0" rtlCol="0" anchor="ctr"/>
          <a:lstStyle/>
          <a:p>
            <a:pPr indent="0" marL="0">
              <a:lnSpc>
                <a:spcPts val="1900"/>
              </a:lnSpc>
              <a:buNone/>
            </a:pPr>
            <a:r>
              <a:rPr lang="en-US" sz="1350" dirty="0">
                <a:solidFill>
                  <a:srgbClr val="6B7480"/>
                </a:solidFill>
                <a:latin typeface="Calibri" pitchFamily="34" charset="0"/>
                <a:ea typeface="Calibri" pitchFamily="34" charset="-122"/>
                <a:cs typeface="Calibri" pitchFamily="34" charset="-120"/>
              </a:rPr>
              <a:t>A Duckietown road has a white edge line on both sides. Searching the whole image width, the far edge line of the oncoming lane was averaged in, dragging the computed lane centre to the left.</a:t>
            </a:r>
            <a:endParaRPr lang="en-US" sz="1350" dirty="0"/>
          </a:p>
        </p:txBody>
      </p:sp>
      <p:sp>
        <p:nvSpPr>
          <p:cNvPr id="7" name="Shape 5"/>
          <p:cNvSpPr/>
          <p:nvPr/>
        </p:nvSpPr>
        <p:spPr>
          <a:xfrm>
            <a:off x="6492240" y="1783080"/>
            <a:ext cx="5029200" cy="2194560"/>
          </a:xfrm>
          <a:prstGeom prst="roundRect">
            <a:avLst>
              <a:gd name="adj" fmla="val 3750"/>
            </a:avLst>
          </a:prstGeom>
          <a:solidFill>
            <a:srgbClr val="F4F5F6"/>
          </a:solidFill>
          <a:ln w="12700">
            <a:solidFill>
              <a:srgbClr val="F4F5F6"/>
            </a:solidFill>
            <a:prstDash val="solid"/>
          </a:ln>
        </p:spPr>
      </p:sp>
      <p:sp>
        <p:nvSpPr>
          <p:cNvPr id="8" name="Text 6"/>
          <p:cNvSpPr/>
          <p:nvPr/>
        </p:nvSpPr>
        <p:spPr>
          <a:xfrm>
            <a:off x="6766560" y="1965960"/>
            <a:ext cx="4480560" cy="347472"/>
          </a:xfrm>
          <a:prstGeom prst="rect">
            <a:avLst/>
          </a:prstGeom>
          <a:noFill/>
          <a:ln/>
        </p:spPr>
        <p:txBody>
          <a:bodyPr wrap="square" lIns="0" tIns="0" rIns="0" bIns="0" rtlCol="0" anchor="ctr"/>
          <a:lstStyle/>
          <a:p>
            <a:pPr indent="0" marL="0">
              <a:buNone/>
            </a:pPr>
            <a:r>
              <a:rPr lang="en-US" sz="1500" b="1" dirty="0">
                <a:solidFill>
                  <a:srgbClr val="15181D"/>
                </a:solidFill>
                <a:latin typeface="Calibri" pitchFamily="34" charset="0"/>
                <a:ea typeface="Calibri" pitchFamily="34" charset="-122"/>
                <a:cs typeface="Calibri" pitchFamily="34" charset="-120"/>
              </a:rPr>
              <a:t>Fix</a:t>
            </a:r>
            <a:endParaRPr lang="en-US" sz="1500" dirty="0"/>
          </a:p>
        </p:txBody>
      </p:sp>
      <p:sp>
        <p:nvSpPr>
          <p:cNvPr id="9" name="Text 7"/>
          <p:cNvSpPr/>
          <p:nvPr/>
        </p:nvSpPr>
        <p:spPr>
          <a:xfrm>
            <a:off x="6766560" y="2331720"/>
            <a:ext cx="4480560" cy="155448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6B7480"/>
                </a:solidFill>
                <a:latin typeface="Calibri" pitchFamily="34" charset="0"/>
                <a:ea typeface="Calibri" pitchFamily="34" charset="-122"/>
                <a:cs typeface="Calibri" pitchFamily="34" charset="-120"/>
              </a:rPr>
              <a:t>Look for each line only where it can legitimately be</a:t>
            </a:r>
            <a:endParaRPr lang="en-US" sz="1350" dirty="0"/>
          </a:p>
          <a:p>
            <a:pPr marL="342900" indent="-342900">
              <a:spcAft>
                <a:spcPts val="600"/>
              </a:spcAft>
              <a:buSzPct val="100000"/>
              <a:buChar char="•"/>
            </a:pPr>
            <a:r>
              <a:rPr lang="en-US" sz="1350" dirty="0">
                <a:solidFill>
                  <a:srgbClr val="6B7480"/>
                </a:solidFill>
                <a:latin typeface="Calibri" pitchFamily="34" charset="0"/>
                <a:ea typeface="Calibri" pitchFamily="34" charset="-122"/>
                <a:cs typeface="Calibri" pitchFamily="34" charset="-120"/>
              </a:rPr>
              <a:t>Yellow centre line on the left, our white edge on the right</a:t>
            </a:r>
            <a:endParaRPr lang="en-US" sz="1350" dirty="0"/>
          </a:p>
          <a:p>
            <a:pPr marL="342900" indent="-342900">
              <a:spcAft>
                <a:spcPts val="600"/>
              </a:spcAft>
              <a:buSzPct val="100000"/>
              <a:buChar char="•"/>
            </a:pPr>
            <a:r>
              <a:rPr lang="en-US" sz="1350" dirty="0">
                <a:solidFill>
                  <a:srgbClr val="6B7480"/>
                </a:solidFill>
                <a:latin typeface="Calibri" pitchFamily="34" charset="0"/>
                <a:ea typeface="Calibri" pitchFamily="34" charset="-122"/>
                <a:cs typeface="Calibri" pitchFamily="34" charset="-120"/>
              </a:rPr>
              <a:t>If white lands left of yellow it is the wrong line, so discard it</a:t>
            </a:r>
            <a:endParaRPr lang="en-US" sz="1350" dirty="0"/>
          </a:p>
        </p:txBody>
      </p:sp>
      <p:sp>
        <p:nvSpPr>
          <p:cNvPr id="10" name="Shape 8"/>
          <p:cNvSpPr/>
          <p:nvPr/>
        </p:nvSpPr>
        <p:spPr>
          <a:xfrm>
            <a:off x="640080" y="4206240"/>
            <a:ext cx="10881360" cy="1371600"/>
          </a:xfrm>
          <a:prstGeom prst="roundRect">
            <a:avLst>
              <a:gd name="adj" fmla="val 6000"/>
            </a:avLst>
          </a:prstGeom>
          <a:solidFill>
            <a:srgbClr val="1F2428"/>
          </a:solidFill>
          <a:ln w="12700">
            <a:solidFill>
              <a:srgbClr val="1F2428"/>
            </a:solidFill>
            <a:prstDash val="solid"/>
          </a:ln>
        </p:spPr>
      </p:sp>
      <p:sp>
        <p:nvSpPr>
          <p:cNvPr id="11" name="Text 9"/>
          <p:cNvSpPr/>
          <p:nvPr/>
        </p:nvSpPr>
        <p:spPr>
          <a:xfrm>
            <a:off x="960120" y="4370832"/>
            <a:ext cx="2743200" cy="320040"/>
          </a:xfrm>
          <a:prstGeom prst="rect">
            <a:avLst/>
          </a:prstGeom>
          <a:noFill/>
          <a:ln/>
        </p:spPr>
        <p:txBody>
          <a:bodyPr wrap="square" lIns="0" tIns="0" rIns="0" bIns="0" rtlCol="0" anchor="ctr"/>
          <a:lstStyle/>
          <a:p>
            <a:pPr indent="0" marL="0">
              <a:buNone/>
            </a:pPr>
            <a:r>
              <a:rPr lang="en-US" sz="1100" b="1" spc="100" kern="0" dirty="0">
                <a:solidFill>
                  <a:srgbClr val="F2C012"/>
                </a:solidFill>
                <a:latin typeface="Calibri" pitchFamily="34" charset="0"/>
                <a:ea typeface="Calibri" pitchFamily="34" charset="-122"/>
                <a:cs typeface="Calibri" pitchFamily="34" charset="-120"/>
              </a:rPr>
              <a:t>MEASURED</a:t>
            </a:r>
            <a:endParaRPr lang="en-US" sz="1100" dirty="0"/>
          </a:p>
        </p:txBody>
      </p:sp>
      <p:sp>
        <p:nvSpPr>
          <p:cNvPr id="12" name="Text 10"/>
          <p:cNvSpPr/>
          <p:nvPr/>
        </p:nvSpPr>
        <p:spPr>
          <a:xfrm>
            <a:off x="960120" y="4700016"/>
            <a:ext cx="10241280" cy="777240"/>
          </a:xfrm>
          <a:prstGeom prst="rect">
            <a:avLst/>
          </a:prstGeom>
          <a:noFill/>
          <a:ln/>
        </p:spPr>
        <p:txBody>
          <a:bodyPr wrap="square" lIns="0" tIns="0" rIns="0" bIns="0" rtlCol="0" anchor="ctr"/>
          <a:lstStyle/>
          <a:p>
            <a:pPr indent="0" marL="0">
              <a:lnSpc>
                <a:spcPts val="2000"/>
              </a:lnSpc>
              <a:buNone/>
            </a:pPr>
            <a:r>
              <a:rPr lang="en-US" sz="1300" dirty="0">
                <a:solidFill>
                  <a:srgbClr val="9AA3AD"/>
                </a:solidFill>
                <a:latin typeface="Consolas" pitchFamily="34" charset="0"/>
                <a:ea typeface="Consolas" pitchFamily="34" charset="-122"/>
                <a:cs typeface="Consolas" pitchFamily="34" charset="-120"/>
              </a:rPr>
              <a:t>before    </a:t>
            </a:r>
            <a:pPr indent="0" marL="0">
              <a:lnSpc>
                <a:spcPts val="2000"/>
              </a:lnSpc>
              <a:buNone/>
            </a:pPr>
            <a:r>
              <a:rPr lang="en-US" sz="1300" dirty="0">
                <a:solidFill>
                  <a:srgbClr val="FFFFFF"/>
                </a:solidFill>
                <a:latin typeface="Consolas" pitchFamily="34" charset="0"/>
                <a:ea typeface="Consolas" pitchFamily="34" charset="-122"/>
                <a:cs typeface="Consolas" pitchFamily="34" charset="-120"/>
              </a:rPr>
              <a:t>lane centre 199 px, left of image centre 320   -&gt;   steers left on a right curve</a:t>
            </a:r>
            <a:endParaRPr lang="en-US" sz="1300" dirty="0"/>
          </a:p>
          <a:p>
            <a:pPr indent="0" marL="0">
              <a:lnSpc>
                <a:spcPts val="2000"/>
              </a:lnSpc>
              <a:buNone/>
            </a:pPr>
            <a:r>
              <a:rPr lang="en-US" sz="1300" dirty="0">
                <a:solidFill>
                  <a:srgbClr val="9AA3AD"/>
                </a:solidFill>
                <a:latin typeface="Consolas" pitchFamily="34" charset="0"/>
                <a:ea typeface="Consolas" pitchFamily="34" charset="-122"/>
                <a:cs typeface="Consolas" pitchFamily="34" charset="-120"/>
              </a:rPr>
              <a:t>after      </a:t>
            </a:r>
            <a:pPr indent="0" marL="0">
              <a:lnSpc>
                <a:spcPts val="2000"/>
              </a:lnSpc>
              <a:buNone/>
            </a:pPr>
            <a:r>
              <a:rPr lang="en-US" sz="1300" dirty="0">
                <a:solidFill>
                  <a:srgbClr val="F2C012"/>
                </a:solidFill>
                <a:latin typeface="Consolas" pitchFamily="34" charset="0"/>
                <a:ea typeface="Consolas" pitchFamily="34" charset="-122"/>
                <a:cs typeface="Consolas" pitchFamily="34" charset="-120"/>
              </a:rPr>
              <a:t>lane centre 319 px   -&gt;   steers right, correct</a:t>
            </a:r>
            <a:endParaRPr lang="en-US" sz="1300" dirty="0"/>
          </a:p>
        </p:txBody>
      </p:sp>
      <p:sp>
        <p:nvSpPr>
          <p:cNvPr id="13" name="Text 11"/>
          <p:cNvSpPr/>
          <p:nvPr/>
        </p:nvSpPr>
        <p:spPr>
          <a:xfrm>
            <a:off x="640080" y="5760720"/>
            <a:ext cx="10972800" cy="502920"/>
          </a:xfrm>
          <a:prstGeom prst="rect">
            <a:avLst/>
          </a:prstGeom>
          <a:noFill/>
          <a:ln/>
        </p:spPr>
        <p:txBody>
          <a:bodyPr wrap="square" lIns="0" tIns="0" rIns="0" bIns="0" rtlCol="0" anchor="ctr"/>
          <a:lstStyle/>
          <a:p>
            <a:pPr indent="0" marL="0">
              <a:buNone/>
            </a:pPr>
            <a:r>
              <a:rPr lang="en-US" sz="1200" i="1" dirty="0">
                <a:solidFill>
                  <a:srgbClr val="6B7480"/>
                </a:solidFill>
                <a:latin typeface="Calibri" pitchFamily="34" charset="0"/>
                <a:ea typeface="Calibri" pitchFamily="34" charset="-122"/>
                <a:cs typeface="Calibri" pitchFamily="34" charset="-120"/>
              </a:rPr>
              <a:t>A second fix mattered as much: when both lines briefly leave view mid-curve the robot now holds its turn instead of straightening, because straightening is what carried it out of the lane.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15181D"/>
                </a:solidFill>
                <a:latin typeface="Cambria" pitchFamily="34" charset="0"/>
                <a:ea typeface="Cambria" pitchFamily="34" charset="-122"/>
                <a:cs typeface="Cambria" pitchFamily="34" charset="-120"/>
              </a:rPr>
              <a:t>Intersections: stop timing the turn</a:t>
            </a:r>
            <a:endParaRPr lang="en-US" sz="3400" dirty="0"/>
          </a:p>
        </p:txBody>
      </p:sp>
      <p:sp>
        <p:nvSpPr>
          <p:cNvPr id="3" name="Shape 1"/>
          <p:cNvSpPr/>
          <p:nvPr/>
        </p:nvSpPr>
        <p:spPr>
          <a:xfrm>
            <a:off x="640080" y="1463040"/>
            <a:ext cx="6949440" cy="1280160"/>
          </a:xfrm>
          <a:prstGeom prst="roundRect">
            <a:avLst>
              <a:gd name="adj" fmla="val 6429"/>
            </a:avLst>
          </a:prstGeom>
          <a:solidFill>
            <a:srgbClr val="F4F5F6"/>
          </a:solidFill>
          <a:ln w="12700">
            <a:solidFill>
              <a:srgbClr val="F4F5F6"/>
            </a:solidFill>
            <a:prstDash val="solid"/>
          </a:ln>
        </p:spPr>
      </p:sp>
      <p:sp>
        <p:nvSpPr>
          <p:cNvPr id="4" name="Shape 2"/>
          <p:cNvSpPr/>
          <p:nvPr/>
        </p:nvSpPr>
        <p:spPr>
          <a:xfrm>
            <a:off x="914400" y="1874520"/>
            <a:ext cx="457200" cy="457200"/>
          </a:xfrm>
          <a:prstGeom prst="ellipse">
            <a:avLst/>
          </a:prstGeom>
          <a:solidFill>
            <a:srgbClr val="D93A2E"/>
          </a:solidFill>
          <a:ln/>
        </p:spPr>
      </p:sp>
      <p:sp>
        <p:nvSpPr>
          <p:cNvPr id="5" name="Text 3"/>
          <p:cNvSpPr/>
          <p:nvPr/>
        </p:nvSpPr>
        <p:spPr>
          <a:xfrm>
            <a:off x="914400" y="1874520"/>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a:t>
            </a:r>
            <a:endParaRPr lang="en-US" sz="1000" dirty="0"/>
          </a:p>
        </p:txBody>
      </p:sp>
      <p:sp>
        <p:nvSpPr>
          <p:cNvPr id="6" name="Text 4"/>
          <p:cNvSpPr/>
          <p:nvPr/>
        </p:nvSpPr>
        <p:spPr>
          <a:xfrm>
            <a:off x="1536192" y="1664208"/>
            <a:ext cx="5760720" cy="320040"/>
          </a:xfrm>
          <a:prstGeom prst="rect">
            <a:avLst/>
          </a:prstGeom>
          <a:noFill/>
          <a:ln/>
        </p:spPr>
        <p:txBody>
          <a:bodyPr wrap="square" lIns="0" tIns="0" rIns="0" bIns="0" rtlCol="0" anchor="ctr"/>
          <a:lstStyle/>
          <a:p>
            <a:pPr indent="0" marL="0">
              <a:buNone/>
            </a:pPr>
            <a:r>
              <a:rPr lang="en-US" sz="1550" b="1" dirty="0">
                <a:solidFill>
                  <a:srgbClr val="15181D"/>
                </a:solidFill>
                <a:latin typeface="Calibri" pitchFamily="34" charset="0"/>
                <a:ea typeface="Calibri" pitchFamily="34" charset="-122"/>
                <a:cs typeface="Calibri" pitchFamily="34" charset="-120"/>
              </a:rPr>
              <a:t>Timed rotation</a:t>
            </a:r>
            <a:endParaRPr lang="en-US" sz="1550" dirty="0"/>
          </a:p>
        </p:txBody>
      </p:sp>
      <p:sp>
        <p:nvSpPr>
          <p:cNvPr id="7" name="Text 5"/>
          <p:cNvSpPr/>
          <p:nvPr/>
        </p:nvSpPr>
        <p:spPr>
          <a:xfrm>
            <a:off x="1536192" y="1993392"/>
            <a:ext cx="5852160" cy="658368"/>
          </a:xfrm>
          <a:prstGeom prst="rect">
            <a:avLst/>
          </a:prstGeom>
          <a:noFill/>
          <a:ln/>
        </p:spPr>
        <p:txBody>
          <a:bodyPr wrap="square" lIns="0" tIns="0" rIns="0" bIns="0" rtlCol="0" anchor="ctr"/>
          <a:lstStyle/>
          <a:p>
            <a:pPr indent="0" marL="0">
              <a:lnSpc>
                <a:spcPts val="1700"/>
              </a:lnSpc>
              <a:buNone/>
            </a:pPr>
            <a:r>
              <a:rPr lang="en-US" sz="1250" dirty="0">
                <a:solidFill>
                  <a:srgbClr val="6B7480"/>
                </a:solidFill>
                <a:latin typeface="Calibri" pitchFamily="34" charset="0"/>
                <a:ea typeface="Calibri" pitchFamily="34" charset="-122"/>
                <a:cs typeface="Calibri" pitchFamily="34" charset="-120"/>
              </a:rPr>
              <a:t>A tight right and a wide left need different amounts of rotation, and it varies by junction. No single set of timings worked.</a:t>
            </a:r>
            <a:endParaRPr lang="en-US" sz="1250" dirty="0"/>
          </a:p>
        </p:txBody>
      </p:sp>
      <p:sp>
        <p:nvSpPr>
          <p:cNvPr id="8" name="Shape 6"/>
          <p:cNvSpPr/>
          <p:nvPr/>
        </p:nvSpPr>
        <p:spPr>
          <a:xfrm>
            <a:off x="640080" y="2926080"/>
            <a:ext cx="6949440" cy="1280160"/>
          </a:xfrm>
          <a:prstGeom prst="roundRect">
            <a:avLst>
              <a:gd name="adj" fmla="val 6429"/>
            </a:avLst>
          </a:prstGeom>
          <a:solidFill>
            <a:srgbClr val="F4F5F6"/>
          </a:solidFill>
          <a:ln w="12700">
            <a:solidFill>
              <a:srgbClr val="F4F5F6"/>
            </a:solidFill>
            <a:prstDash val="solid"/>
          </a:ln>
        </p:spPr>
      </p:sp>
      <p:sp>
        <p:nvSpPr>
          <p:cNvPr id="9" name="Shape 7"/>
          <p:cNvSpPr/>
          <p:nvPr/>
        </p:nvSpPr>
        <p:spPr>
          <a:xfrm>
            <a:off x="914400" y="3337560"/>
            <a:ext cx="457200" cy="457200"/>
          </a:xfrm>
          <a:prstGeom prst="ellipse">
            <a:avLst/>
          </a:prstGeom>
          <a:solidFill>
            <a:srgbClr val="F2C012"/>
          </a:solidFill>
          <a:ln/>
        </p:spPr>
      </p:sp>
      <p:sp>
        <p:nvSpPr>
          <p:cNvPr id="10" name="Text 8"/>
          <p:cNvSpPr/>
          <p:nvPr/>
        </p:nvSpPr>
        <p:spPr>
          <a:xfrm>
            <a:off x="914400" y="3337560"/>
            <a:ext cx="457200" cy="457200"/>
          </a:xfrm>
          <a:prstGeom prst="rect">
            <a:avLst/>
          </a:prstGeom>
          <a:noFill/>
          <a:ln/>
        </p:spPr>
        <p:txBody>
          <a:bodyPr wrap="square" lIns="0" tIns="0" rIns="0" bIns="0" rtlCol="0" anchor="ctr"/>
          <a:lstStyle/>
          <a:p>
            <a:pPr algn="ctr" indent="0" marL="0">
              <a:buNone/>
            </a:pPr>
            <a:r>
              <a:rPr lang="en-US" sz="1000" b="1" dirty="0">
                <a:solidFill>
                  <a:srgbClr val="1F2428"/>
                </a:solidFill>
                <a:latin typeface="Calibri" pitchFamily="34" charset="0"/>
                <a:ea typeface="Calibri" pitchFamily="34" charset="-122"/>
                <a:cs typeface="Calibri" pitchFamily="34" charset="-120"/>
              </a:rPr>
              <a:t>yes</a:t>
            </a:r>
            <a:endParaRPr lang="en-US" sz="1000" dirty="0"/>
          </a:p>
        </p:txBody>
      </p:sp>
      <p:sp>
        <p:nvSpPr>
          <p:cNvPr id="11" name="Text 9"/>
          <p:cNvSpPr/>
          <p:nvPr/>
        </p:nvSpPr>
        <p:spPr>
          <a:xfrm>
            <a:off x="1536192" y="3127248"/>
            <a:ext cx="5760720" cy="320040"/>
          </a:xfrm>
          <a:prstGeom prst="rect">
            <a:avLst/>
          </a:prstGeom>
          <a:noFill/>
          <a:ln/>
        </p:spPr>
        <p:txBody>
          <a:bodyPr wrap="square" lIns="0" tIns="0" rIns="0" bIns="0" rtlCol="0" anchor="ctr"/>
          <a:lstStyle/>
          <a:p>
            <a:pPr indent="0" marL="0">
              <a:buNone/>
            </a:pPr>
            <a:r>
              <a:rPr lang="en-US" sz="1550" b="1" dirty="0">
                <a:solidFill>
                  <a:srgbClr val="15181D"/>
                </a:solidFill>
                <a:latin typeface="Calibri" pitchFamily="34" charset="0"/>
                <a:ea typeface="Calibri" pitchFamily="34" charset="-122"/>
                <a:cs typeface="Calibri" pitchFamily="34" charset="-120"/>
              </a:rPr>
              <a:t>Rotate until a lane appears</a:t>
            </a:r>
            <a:endParaRPr lang="en-US" sz="1550" dirty="0"/>
          </a:p>
        </p:txBody>
      </p:sp>
      <p:sp>
        <p:nvSpPr>
          <p:cNvPr id="12" name="Text 10"/>
          <p:cNvSpPr/>
          <p:nvPr/>
        </p:nvSpPr>
        <p:spPr>
          <a:xfrm>
            <a:off x="1536192" y="3456432"/>
            <a:ext cx="5852160" cy="658368"/>
          </a:xfrm>
          <a:prstGeom prst="rect">
            <a:avLst/>
          </a:prstGeom>
          <a:noFill/>
          <a:ln/>
        </p:spPr>
        <p:txBody>
          <a:bodyPr wrap="square" lIns="0" tIns="0" rIns="0" bIns="0" rtlCol="0" anchor="ctr"/>
          <a:lstStyle/>
          <a:p>
            <a:pPr indent="0" marL="0">
              <a:lnSpc>
                <a:spcPts val="1700"/>
              </a:lnSpc>
              <a:buNone/>
            </a:pPr>
            <a:r>
              <a:rPr lang="en-US" sz="1250" dirty="0">
                <a:solidFill>
                  <a:srgbClr val="6B7480"/>
                </a:solidFill>
                <a:latin typeface="Calibri" pitchFamily="34" charset="0"/>
                <a:ea typeface="Calibri" pitchFamily="34" charset="-122"/>
                <a:cs typeface="Calibri" pitchFamily="34" charset="-120"/>
              </a:rPr>
              <a:t>The robot creeps in, then turns until it sees a lane ahead again. It stops rotating when it is actually lined up.</a:t>
            </a:r>
            <a:endParaRPr lang="en-US" sz="1250" dirty="0"/>
          </a:p>
        </p:txBody>
      </p:sp>
      <p:sp>
        <p:nvSpPr>
          <p:cNvPr id="13" name="Shape 11"/>
          <p:cNvSpPr/>
          <p:nvPr/>
        </p:nvSpPr>
        <p:spPr>
          <a:xfrm>
            <a:off x="7863840" y="1463040"/>
            <a:ext cx="3657600" cy="2743200"/>
          </a:xfrm>
          <a:prstGeom prst="roundRect">
            <a:avLst>
              <a:gd name="adj" fmla="val 3000"/>
            </a:avLst>
          </a:prstGeom>
          <a:solidFill>
            <a:srgbClr val="1F2428"/>
          </a:solidFill>
          <a:ln w="12700">
            <a:solidFill>
              <a:srgbClr val="1F2428"/>
            </a:solidFill>
            <a:prstDash val="solid"/>
          </a:ln>
        </p:spPr>
      </p:sp>
      <p:sp>
        <p:nvSpPr>
          <p:cNvPr id="14" name="Text 12"/>
          <p:cNvSpPr/>
          <p:nvPr/>
        </p:nvSpPr>
        <p:spPr>
          <a:xfrm>
            <a:off x="8138160" y="1664208"/>
            <a:ext cx="3108960" cy="320040"/>
          </a:xfrm>
          <a:prstGeom prst="rect">
            <a:avLst/>
          </a:prstGeom>
          <a:noFill/>
          <a:ln/>
        </p:spPr>
        <p:txBody>
          <a:bodyPr wrap="square" lIns="0" tIns="0" rIns="0" bIns="0" rtlCol="0" anchor="ctr"/>
          <a:lstStyle/>
          <a:p>
            <a:pPr indent="0" marL="0">
              <a:buNone/>
            </a:pPr>
            <a:r>
              <a:rPr lang="en-US" sz="1100" b="1" spc="100" kern="0" dirty="0">
                <a:solidFill>
                  <a:srgbClr val="F2C012"/>
                </a:solidFill>
                <a:latin typeface="Calibri" pitchFamily="34" charset="0"/>
                <a:ea typeface="Calibri" pitchFamily="34" charset="-122"/>
                <a:cs typeface="Calibri" pitchFamily="34" charset="-120"/>
              </a:rPr>
              <a:t>EACH TURN</a:t>
            </a:r>
            <a:endParaRPr lang="en-US" sz="1100" dirty="0"/>
          </a:p>
        </p:txBody>
      </p:sp>
      <p:sp>
        <p:nvSpPr>
          <p:cNvPr id="15" name="Shape 13"/>
          <p:cNvSpPr/>
          <p:nvPr/>
        </p:nvSpPr>
        <p:spPr>
          <a:xfrm>
            <a:off x="8138160" y="2121408"/>
            <a:ext cx="347472" cy="347472"/>
          </a:xfrm>
          <a:prstGeom prst="ellipse">
            <a:avLst/>
          </a:prstGeom>
          <a:solidFill>
            <a:srgbClr val="F2C012"/>
          </a:solidFill>
          <a:ln/>
        </p:spPr>
      </p:sp>
      <p:sp>
        <p:nvSpPr>
          <p:cNvPr id="16" name="Text 14"/>
          <p:cNvSpPr/>
          <p:nvPr/>
        </p:nvSpPr>
        <p:spPr>
          <a:xfrm>
            <a:off x="8138160" y="2121408"/>
            <a:ext cx="347472" cy="347472"/>
          </a:xfrm>
          <a:prstGeom prst="rect">
            <a:avLst/>
          </a:prstGeom>
          <a:noFill/>
          <a:ln/>
        </p:spPr>
        <p:txBody>
          <a:bodyPr wrap="square" lIns="0" tIns="0" rIns="0" bIns="0" rtlCol="0" anchor="ctr"/>
          <a:lstStyle/>
          <a:p>
            <a:pPr algn="ctr" indent="0" marL="0">
              <a:buNone/>
            </a:pPr>
            <a:r>
              <a:rPr lang="en-US" sz="1300" b="1" dirty="0">
                <a:solidFill>
                  <a:srgbClr val="1F2428"/>
                </a:solidFill>
                <a:latin typeface="Calibri" pitchFamily="34" charset="0"/>
                <a:ea typeface="Calibri" pitchFamily="34" charset="-122"/>
                <a:cs typeface="Calibri" pitchFamily="34" charset="-120"/>
              </a:rPr>
              <a:t>1</a:t>
            </a:r>
            <a:endParaRPr lang="en-US" sz="1300" dirty="0"/>
          </a:p>
        </p:txBody>
      </p:sp>
      <p:sp>
        <p:nvSpPr>
          <p:cNvPr id="17" name="Text 15"/>
          <p:cNvSpPr/>
          <p:nvPr/>
        </p:nvSpPr>
        <p:spPr>
          <a:xfrm>
            <a:off x="8613648" y="2084832"/>
            <a:ext cx="274320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Creep into the junction</a:t>
            </a:r>
            <a:endParaRPr lang="en-US" sz="1250" dirty="0"/>
          </a:p>
        </p:txBody>
      </p:sp>
      <p:sp>
        <p:nvSpPr>
          <p:cNvPr id="18" name="Shape 16"/>
          <p:cNvSpPr/>
          <p:nvPr/>
        </p:nvSpPr>
        <p:spPr>
          <a:xfrm>
            <a:off x="8138160" y="2807208"/>
            <a:ext cx="347472" cy="347472"/>
          </a:xfrm>
          <a:prstGeom prst="ellipse">
            <a:avLst/>
          </a:prstGeom>
          <a:solidFill>
            <a:srgbClr val="F2C012"/>
          </a:solidFill>
          <a:ln/>
        </p:spPr>
      </p:sp>
      <p:sp>
        <p:nvSpPr>
          <p:cNvPr id="19" name="Text 17"/>
          <p:cNvSpPr/>
          <p:nvPr/>
        </p:nvSpPr>
        <p:spPr>
          <a:xfrm>
            <a:off x="8138160" y="2807208"/>
            <a:ext cx="347472" cy="347472"/>
          </a:xfrm>
          <a:prstGeom prst="rect">
            <a:avLst/>
          </a:prstGeom>
          <a:noFill/>
          <a:ln/>
        </p:spPr>
        <p:txBody>
          <a:bodyPr wrap="square" lIns="0" tIns="0" rIns="0" bIns="0" rtlCol="0" anchor="ctr"/>
          <a:lstStyle/>
          <a:p>
            <a:pPr algn="ctr" indent="0" marL="0">
              <a:buNone/>
            </a:pPr>
            <a:r>
              <a:rPr lang="en-US" sz="1300" b="1" dirty="0">
                <a:solidFill>
                  <a:srgbClr val="1F2428"/>
                </a:solidFill>
                <a:latin typeface="Calibri" pitchFamily="34" charset="0"/>
                <a:ea typeface="Calibri" pitchFamily="34" charset="-122"/>
                <a:cs typeface="Calibri" pitchFamily="34" charset="-120"/>
              </a:rPr>
              <a:t>2</a:t>
            </a:r>
            <a:endParaRPr lang="en-US" sz="1300" dirty="0"/>
          </a:p>
        </p:txBody>
      </p:sp>
      <p:sp>
        <p:nvSpPr>
          <p:cNvPr id="20" name="Text 18"/>
          <p:cNvSpPr/>
          <p:nvPr/>
        </p:nvSpPr>
        <p:spPr>
          <a:xfrm>
            <a:off x="8613648" y="2770632"/>
            <a:ext cx="274320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Rotate until a lane is ahead</a:t>
            </a:r>
            <a:endParaRPr lang="en-US" sz="1250" dirty="0"/>
          </a:p>
        </p:txBody>
      </p:sp>
      <p:sp>
        <p:nvSpPr>
          <p:cNvPr id="21" name="Shape 19"/>
          <p:cNvSpPr/>
          <p:nvPr/>
        </p:nvSpPr>
        <p:spPr>
          <a:xfrm>
            <a:off x="8138160" y="3493008"/>
            <a:ext cx="347472" cy="347472"/>
          </a:xfrm>
          <a:prstGeom prst="ellipse">
            <a:avLst/>
          </a:prstGeom>
          <a:solidFill>
            <a:srgbClr val="F2C012"/>
          </a:solidFill>
          <a:ln/>
        </p:spPr>
      </p:sp>
      <p:sp>
        <p:nvSpPr>
          <p:cNvPr id="22" name="Text 20"/>
          <p:cNvSpPr/>
          <p:nvPr/>
        </p:nvSpPr>
        <p:spPr>
          <a:xfrm>
            <a:off x="8138160" y="3493008"/>
            <a:ext cx="347472" cy="347472"/>
          </a:xfrm>
          <a:prstGeom prst="rect">
            <a:avLst/>
          </a:prstGeom>
          <a:noFill/>
          <a:ln/>
        </p:spPr>
        <p:txBody>
          <a:bodyPr wrap="square" lIns="0" tIns="0" rIns="0" bIns="0" rtlCol="0" anchor="ctr"/>
          <a:lstStyle/>
          <a:p>
            <a:pPr algn="ctr" indent="0" marL="0">
              <a:buNone/>
            </a:pPr>
            <a:r>
              <a:rPr lang="en-US" sz="1300" b="1" dirty="0">
                <a:solidFill>
                  <a:srgbClr val="1F2428"/>
                </a:solidFill>
                <a:latin typeface="Calibri" pitchFamily="34" charset="0"/>
                <a:ea typeface="Calibri" pitchFamily="34" charset="-122"/>
                <a:cs typeface="Calibri" pitchFamily="34" charset="-120"/>
              </a:rPr>
              <a:t>3</a:t>
            </a:r>
            <a:endParaRPr lang="en-US" sz="1300" dirty="0"/>
          </a:p>
        </p:txBody>
      </p:sp>
      <p:sp>
        <p:nvSpPr>
          <p:cNvPr id="23" name="Text 21"/>
          <p:cNvSpPr/>
          <p:nvPr/>
        </p:nvSpPr>
        <p:spPr>
          <a:xfrm>
            <a:off x="8613648" y="3456432"/>
            <a:ext cx="274320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Hand back to lane following</a:t>
            </a:r>
            <a:endParaRPr lang="en-US" sz="1250" dirty="0"/>
          </a:p>
        </p:txBody>
      </p:sp>
      <p:sp>
        <p:nvSpPr>
          <p:cNvPr id="24" name="Shape 22"/>
          <p:cNvSpPr/>
          <p:nvPr/>
        </p:nvSpPr>
        <p:spPr>
          <a:xfrm>
            <a:off x="640080" y="4617720"/>
            <a:ext cx="10881360" cy="1051560"/>
          </a:xfrm>
          <a:prstGeom prst="roundRect">
            <a:avLst>
              <a:gd name="adj" fmla="val 7826"/>
            </a:avLst>
          </a:prstGeom>
          <a:solidFill>
            <a:srgbClr val="2C3238"/>
          </a:solidFill>
          <a:ln w="12700">
            <a:solidFill>
              <a:srgbClr val="2C3238"/>
            </a:solidFill>
            <a:prstDash val="solid"/>
          </a:ln>
        </p:spPr>
      </p:sp>
      <p:sp>
        <p:nvSpPr>
          <p:cNvPr id="25" name="Text 23"/>
          <p:cNvSpPr/>
          <p:nvPr/>
        </p:nvSpPr>
        <p:spPr>
          <a:xfrm>
            <a:off x="960120" y="4864608"/>
            <a:ext cx="10241280" cy="548640"/>
          </a:xfrm>
          <a:prstGeom prst="rect">
            <a:avLst/>
          </a:prstGeom>
          <a:noFill/>
          <a:ln/>
        </p:spPr>
        <p:txBody>
          <a:bodyPr wrap="square" lIns="0" tIns="0" rIns="0" bIns="0" rtlCol="0" anchor="ctr"/>
          <a:lstStyle/>
          <a:p>
            <a:pPr indent="0" marL="0">
              <a:buNone/>
            </a:pPr>
            <a:r>
              <a:rPr lang="en-US" sz="1450" b="1" dirty="0">
                <a:solidFill>
                  <a:srgbClr val="F2C012"/>
                </a:solidFill>
                <a:latin typeface="Calibri" pitchFamily="34" charset="0"/>
                <a:ea typeface="Calibri" pitchFamily="34" charset="-122"/>
                <a:cs typeface="Calibri" pitchFamily="34" charset="-120"/>
              </a:rPr>
              <a:t>Result:   </a:t>
            </a:r>
            <a:pPr indent="0" marL="0">
              <a:buNone/>
            </a:pPr>
            <a:r>
              <a:rPr lang="en-US" sz="1450" dirty="0">
                <a:solidFill>
                  <a:srgbClr val="FFFFFF"/>
                </a:solidFill>
                <a:latin typeface="Calibri" pitchFamily="34" charset="0"/>
                <a:ea typeface="Calibri" pitchFamily="34" charset="-122"/>
                <a:cs typeface="Calibri" pitchFamily="34" charset="-120"/>
              </a:rPr>
              <a:t>the same code drives a tight right and a wide left, with no per-junction timing table.</a:t>
            </a:r>
            <a:endParaRPr lang="en-US" sz="1450" dirty="0"/>
          </a:p>
        </p:txBody>
      </p:sp>
      <p:sp>
        <p:nvSpPr>
          <p:cNvPr id="26" name="Text 24"/>
          <p:cNvSpPr/>
          <p:nvPr/>
        </p:nvSpPr>
        <p:spPr>
          <a:xfrm>
            <a:off x="640080" y="5806440"/>
            <a:ext cx="10972800" cy="411480"/>
          </a:xfrm>
          <a:prstGeom prst="rect">
            <a:avLst/>
          </a:prstGeom>
          <a:noFill/>
          <a:ln/>
        </p:spPr>
        <p:txBody>
          <a:bodyPr wrap="square" lIns="0" tIns="0" rIns="0" bIns="0" rtlCol="0" anchor="ctr"/>
          <a:lstStyle/>
          <a:p>
            <a:pPr indent="0" marL="0">
              <a:buNone/>
            </a:pPr>
            <a:r>
              <a:rPr lang="en-US" sz="1200" i="1" dirty="0">
                <a:solidFill>
                  <a:srgbClr val="6B7480"/>
                </a:solidFill>
                <a:latin typeface="Calibri" pitchFamily="34" charset="0"/>
                <a:ea typeface="Calibri" pitchFamily="34" charset="-122"/>
                <a:cs typeface="Calibri" pitchFamily="34" charset="-120"/>
              </a:rPr>
              <a:t>Only the creep distance is still set by hand, and it differs per direction: a tight right rotates earlier than a wide left.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2428"/>
        </a:solidFill>
      </p:bgPr>
    </p:bg>
    <p:spTree>
      <p:nvGrpSpPr>
        <p:cNvPr id="1" name=""/>
        <p:cNvGrpSpPr/>
        <p:nvPr/>
      </p:nvGrpSpPr>
      <p:grpSpPr>
        <a:xfrm>
          <a:off x="0" y="0"/>
          <a:ext cx="0" cy="0"/>
          <a:chOff x="0" y="0"/>
          <a:chExt cx="0" cy="0"/>
        </a:xfrm>
      </p:grpSpPr>
      <p:sp>
        <p:nvSpPr>
          <p:cNvPr id="2" name="Text 0"/>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Obstacle avoidance: what did not work</a:t>
            </a:r>
            <a:endParaRPr lang="en-US" sz="3400" dirty="0"/>
          </a:p>
        </p:txBody>
      </p:sp>
      <p:sp>
        <p:nvSpPr>
          <p:cNvPr id="3" name="Text 1"/>
          <p:cNvSpPr/>
          <p:nvPr/>
        </p:nvSpPr>
        <p:spPr>
          <a:xfrm>
            <a:off x="640080" y="1188720"/>
            <a:ext cx="10789920" cy="411480"/>
          </a:xfrm>
          <a:prstGeom prst="rect">
            <a:avLst/>
          </a:prstGeom>
          <a:noFill/>
          <a:ln/>
        </p:spPr>
        <p:txBody>
          <a:bodyPr wrap="square" lIns="0" tIns="0" rIns="0" bIns="0" rtlCol="0" anchor="ctr"/>
          <a:lstStyle/>
          <a:p>
            <a:pPr indent="0" marL="0">
              <a:buNone/>
            </a:pPr>
            <a:r>
              <a:rPr lang="en-US" sz="1550" dirty="0">
                <a:solidFill>
                  <a:srgbClr val="C7CED6"/>
                </a:solidFill>
                <a:latin typeface="Calibri" pitchFamily="34" charset="0"/>
                <a:ea typeface="Calibri" pitchFamily="34" charset="-122"/>
                <a:cs typeface="Calibri" pitchFamily="34" charset="-120"/>
              </a:rPr>
              <a:t>The duckies are the same colour as the centre line, so colour just finds the line. We tried shape instead.</a:t>
            </a:r>
            <a:endParaRPr lang="en-US" sz="1550" dirty="0"/>
          </a:p>
        </p:txBody>
      </p:sp>
      <p:graphicFrame>
        <p:nvGraphicFramePr>
          <p:cNvPr id="4" name="Chart 0" descr=""/>
          <p:cNvGraphicFramePr/>
          <p:nvPr/>
        </p:nvGraphicFramePr>
        <p:xfrm>
          <a:off x="640080" y="1783080"/>
          <a:ext cx="6720840" cy="3246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783080"/>
            <a:ext cx="3840480" cy="3246120"/>
          </a:xfrm>
          <a:prstGeom prst="roundRect">
            <a:avLst>
              <a:gd name="adj" fmla="val 2535"/>
            </a:avLst>
          </a:prstGeom>
          <a:solidFill>
            <a:srgbClr val="2C3238"/>
          </a:solidFill>
          <a:ln w="12700">
            <a:solidFill>
              <a:srgbClr val="2C3238"/>
            </a:solidFill>
            <a:prstDash val="solid"/>
          </a:ln>
        </p:spPr>
      </p:sp>
      <p:sp>
        <p:nvSpPr>
          <p:cNvPr id="6" name="Text 3"/>
          <p:cNvSpPr/>
          <p:nvPr/>
        </p:nvSpPr>
        <p:spPr>
          <a:xfrm>
            <a:off x="7955280" y="1965960"/>
            <a:ext cx="3291840" cy="347472"/>
          </a:xfrm>
          <a:prstGeom prst="rect">
            <a:avLst/>
          </a:prstGeom>
          <a:noFill/>
          <a:ln/>
        </p:spPr>
        <p:txBody>
          <a:bodyPr wrap="square" lIns="0" tIns="0" rIns="0" bIns="0" rtlCol="0" anchor="ctr"/>
          <a:lstStyle/>
          <a:p>
            <a:pPr indent="0" marL="0">
              <a:buNone/>
            </a:pPr>
            <a:r>
              <a:rPr lang="en-US" sz="1500" b="1" dirty="0">
                <a:solidFill>
                  <a:srgbClr val="F2C012"/>
                </a:solidFill>
                <a:latin typeface="Calibri" pitchFamily="34" charset="0"/>
                <a:ea typeface="Calibri" pitchFamily="34" charset="-122"/>
                <a:cs typeface="Calibri" pitchFamily="34" charset="-120"/>
              </a:rPr>
              <a:t>Why it fails</a:t>
            </a:r>
            <a:endParaRPr lang="en-US" sz="1500" dirty="0"/>
          </a:p>
        </p:txBody>
      </p:sp>
      <p:sp>
        <p:nvSpPr>
          <p:cNvPr id="7" name="Text 4"/>
          <p:cNvSpPr/>
          <p:nvPr/>
        </p:nvSpPr>
        <p:spPr>
          <a:xfrm>
            <a:off x="7955280" y="2395728"/>
            <a:ext cx="3291840" cy="2468880"/>
          </a:xfrm>
          <a:prstGeom prst="rect">
            <a:avLst/>
          </a:prstGeom>
          <a:noFill/>
          <a:ln/>
        </p:spPr>
        <p:txBody>
          <a:bodyPr wrap="square" lIns="0" tIns="0" rIns="0" bIns="0" rtlCol="0" anchor="ctr"/>
          <a:lstStyle/>
          <a:p>
            <a:pPr marL="342900" indent="-342900">
              <a:lnSpc>
                <a:spcPts val="1700"/>
              </a:lnSpc>
              <a:spcAft>
                <a:spcPts val="900"/>
              </a:spcAft>
              <a:buSzPct val="100000"/>
              <a:buChar char="•"/>
            </a:pPr>
            <a:r>
              <a:rPr lang="en-US" sz="1250" dirty="0">
                <a:solidFill>
                  <a:srgbClr val="C7CED6"/>
                </a:solidFill>
                <a:latin typeface="Calibri" pitchFamily="34" charset="0"/>
                <a:ea typeface="Calibri" pitchFamily="34" charset="-122"/>
                <a:cs typeface="Calibri" pitchFamily="34" charset="-120"/>
              </a:rPr>
              <a:t>A lane dash is a solid rectangle, so it fills its bounding box just as well as a duckie does.</a:t>
            </a:r>
            <a:endParaRPr lang="en-US" sz="1250" dirty="0"/>
          </a:p>
          <a:p>
            <a:pPr marL="342900" indent="-342900">
              <a:lnSpc>
                <a:spcPts val="1700"/>
              </a:lnSpc>
              <a:spcAft>
                <a:spcPts val="900"/>
              </a:spcAft>
              <a:buSzPct val="100000"/>
              <a:buChar char="•"/>
            </a:pPr>
            <a:r>
              <a:rPr lang="en-US" sz="1250" dirty="0">
                <a:solidFill>
                  <a:srgbClr val="C7CED6"/>
                </a:solidFill>
                <a:latin typeface="Calibri" pitchFamily="34" charset="0"/>
                <a:ea typeface="Calibri" pitchFamily="34" charset="-122"/>
                <a:cs typeface="Calibri" pitchFamily="34" charset="-120"/>
              </a:rPr>
              <a:t>Perspective squashes a nearby dash into a near-square blob.</a:t>
            </a:r>
            <a:endParaRPr lang="en-US" sz="1250" dirty="0"/>
          </a:p>
          <a:p>
            <a:pPr marL="342900" indent="-342900">
              <a:lnSpc>
                <a:spcPts val="1700"/>
              </a:lnSpc>
              <a:spcAft>
                <a:spcPts val="900"/>
              </a:spcAft>
              <a:buSzPct val="100000"/>
              <a:buChar char="•"/>
            </a:pPr>
            <a:r>
              <a:rPr lang="en-US" sz="1250" dirty="0">
                <a:solidFill>
                  <a:srgbClr val="C7CED6"/>
                </a:solidFill>
                <a:latin typeface="Calibri" pitchFamily="34" charset="0"/>
                <a:ea typeface="Calibri" pitchFamily="34" charset="-122"/>
                <a:cs typeface="Calibri" pitchFamily="34" charset="-120"/>
              </a:rPr>
              <a:t>The same markings read 1.1 to 2.4 across consecutive frames.</a:t>
            </a:r>
            <a:endParaRPr lang="en-US" sz="1250" dirty="0"/>
          </a:p>
        </p:txBody>
      </p:sp>
      <p:sp>
        <p:nvSpPr>
          <p:cNvPr id="8" name="Shape 5"/>
          <p:cNvSpPr/>
          <p:nvPr/>
        </p:nvSpPr>
        <p:spPr>
          <a:xfrm>
            <a:off x="640080" y="5257800"/>
            <a:ext cx="10881360" cy="1051560"/>
          </a:xfrm>
          <a:prstGeom prst="roundRect">
            <a:avLst>
              <a:gd name="adj" fmla="val 7826"/>
            </a:avLst>
          </a:prstGeom>
          <a:solidFill>
            <a:srgbClr val="3A2226"/>
          </a:solidFill>
          <a:ln w="12700">
            <a:solidFill>
              <a:srgbClr val="3A2226"/>
            </a:solidFill>
            <a:prstDash val="solid"/>
          </a:ln>
        </p:spPr>
      </p:sp>
      <p:sp>
        <p:nvSpPr>
          <p:cNvPr id="9" name="Text 6"/>
          <p:cNvSpPr/>
          <p:nvPr/>
        </p:nvSpPr>
        <p:spPr>
          <a:xfrm>
            <a:off x="960120" y="5486400"/>
            <a:ext cx="10241280" cy="594360"/>
          </a:xfrm>
          <a:prstGeom prst="rect">
            <a:avLst/>
          </a:prstGeom>
          <a:noFill/>
          <a:ln/>
        </p:spPr>
        <p:txBody>
          <a:bodyPr wrap="square" lIns="0" tIns="0" rIns="0" bIns="0" rtlCol="0" anchor="ctr"/>
          <a:lstStyle/>
          <a:p>
            <a:pPr indent="0" marL="0">
              <a:lnSpc>
                <a:spcPts val="1900"/>
              </a:lnSpc>
              <a:buNone/>
            </a:pPr>
            <a:r>
              <a:rPr lang="en-US" sz="1350" b="1" dirty="0">
                <a:solidFill>
                  <a:srgbClr val="D93A2E"/>
                </a:solidFill>
                <a:latin typeface="Calibri" pitchFamily="34" charset="0"/>
                <a:ea typeface="Calibri" pitchFamily="34" charset="-122"/>
                <a:cs typeface="Calibri" pitchFamily="34" charset="-120"/>
              </a:rPr>
              <a:t>It also broke what worked.   </a:t>
            </a:r>
            <a:pPr indent="0" marL="0">
              <a:lnSpc>
                <a:spcPts val="1900"/>
              </a:lnSpc>
              <a:buNone/>
            </a:pPr>
            <a:r>
              <a:rPr lang="en-US" sz="1350" dirty="0">
                <a:solidFill>
                  <a:srgbClr val="E8C9C5"/>
                </a:solidFill>
                <a:latin typeface="Calibri" pitchFamily="34" charset="0"/>
                <a:ea typeface="Calibri" pitchFamily="34" charset="-122"/>
                <a:cs typeface="Calibri" pitchFamily="34" charset="-120"/>
              </a:rPr>
              <a:t>Misclassified dashes were erased from the mask to protect the steering, which left nothing to steer by. Lane following itself failed.</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15181D"/>
                </a:solidFill>
                <a:latin typeface="Cambria" pitchFamily="34" charset="0"/>
                <a:ea typeface="Cambria" pitchFamily="34" charset="-122"/>
                <a:cs typeface="Cambria" pitchFamily="34" charset="-120"/>
              </a:rPr>
              <a:t>Obstacle avoidance: measure distance, not colour</a:t>
            </a:r>
            <a:endParaRPr lang="en-US" sz="3400" dirty="0"/>
          </a:p>
        </p:txBody>
      </p:sp>
      <p:sp>
        <p:nvSpPr>
          <p:cNvPr id="3" name="Text 1"/>
          <p:cNvSpPr/>
          <p:nvPr/>
        </p:nvSpPr>
        <p:spPr>
          <a:xfrm>
            <a:off x="640080" y="1188720"/>
            <a:ext cx="10789920" cy="384048"/>
          </a:xfrm>
          <a:prstGeom prst="rect">
            <a:avLst/>
          </a:prstGeom>
          <a:noFill/>
          <a:ln/>
        </p:spPr>
        <p:txBody>
          <a:bodyPr wrap="square" lIns="0" tIns="0" rIns="0" bIns="0" rtlCol="0" anchor="ctr"/>
          <a:lstStyle/>
          <a:p>
            <a:pPr indent="0" marL="0">
              <a:buNone/>
            </a:pPr>
            <a:r>
              <a:rPr lang="en-US" sz="1600" b="1" dirty="0">
                <a:solidFill>
                  <a:srgbClr val="15181D"/>
                </a:solidFill>
                <a:latin typeface="Calibri" pitchFamily="34" charset="0"/>
                <a:ea typeface="Calibri" pitchFamily="34" charset="-122"/>
                <a:cs typeface="Calibri" pitchFamily="34" charset="-120"/>
              </a:rPr>
              <a:t>A duckie stands up and returns a short range. Flat tape on the road does not.</a:t>
            </a:r>
            <a:endParaRPr lang="en-US" sz="1600" dirty="0"/>
          </a:p>
        </p:txBody>
      </p:sp>
      <p:sp>
        <p:nvSpPr>
          <p:cNvPr id="4" name="Shape 2"/>
          <p:cNvSpPr/>
          <p:nvPr/>
        </p:nvSpPr>
        <p:spPr>
          <a:xfrm>
            <a:off x="640080" y="1783080"/>
            <a:ext cx="3502152" cy="2148840"/>
          </a:xfrm>
          <a:prstGeom prst="roundRect">
            <a:avLst>
              <a:gd name="adj" fmla="val 3830"/>
            </a:avLst>
          </a:prstGeom>
          <a:solidFill>
            <a:srgbClr val="F4F5F6"/>
          </a:solidFill>
          <a:ln w="12700">
            <a:solidFill>
              <a:srgbClr val="F4F5F6"/>
            </a:solidFill>
            <a:prstDash val="solid"/>
          </a:ln>
        </p:spPr>
      </p:sp>
      <p:sp>
        <p:nvSpPr>
          <p:cNvPr id="5" name="Text 3"/>
          <p:cNvSpPr/>
          <p:nvPr/>
        </p:nvSpPr>
        <p:spPr>
          <a:xfrm>
            <a:off x="914400" y="1965960"/>
            <a:ext cx="2926080" cy="292608"/>
          </a:xfrm>
          <a:prstGeom prst="rect">
            <a:avLst/>
          </a:prstGeom>
          <a:noFill/>
          <a:ln/>
        </p:spPr>
        <p:txBody>
          <a:bodyPr wrap="square" lIns="0" tIns="0" rIns="0" bIns="0" rtlCol="0" anchor="ctr"/>
          <a:lstStyle/>
          <a:p>
            <a:pPr indent="0" marL="0">
              <a:buNone/>
            </a:pPr>
            <a:r>
              <a:rPr lang="en-US" sz="1100" b="1" spc="100" kern="0" dirty="0">
                <a:solidFill>
                  <a:srgbClr val="6B7480"/>
                </a:solidFill>
                <a:latin typeface="Calibri" pitchFamily="34" charset="0"/>
                <a:ea typeface="Calibri" pitchFamily="34" charset="-122"/>
                <a:cs typeface="Calibri" pitchFamily="34" charset="-120"/>
              </a:rPr>
              <a:t>DETECT</a:t>
            </a:r>
            <a:endParaRPr lang="en-US" sz="1100" dirty="0"/>
          </a:p>
        </p:txBody>
      </p:sp>
      <p:sp>
        <p:nvSpPr>
          <p:cNvPr id="6" name="Text 4"/>
          <p:cNvSpPr/>
          <p:nvPr/>
        </p:nvSpPr>
        <p:spPr>
          <a:xfrm>
            <a:off x="914400" y="2286000"/>
            <a:ext cx="3017520" cy="566928"/>
          </a:xfrm>
          <a:prstGeom prst="rect">
            <a:avLst/>
          </a:prstGeom>
          <a:noFill/>
          <a:ln/>
        </p:spPr>
        <p:txBody>
          <a:bodyPr wrap="square" lIns="0" tIns="0" rIns="0" bIns="0" rtlCol="0" anchor="ctr"/>
          <a:lstStyle/>
          <a:p>
            <a:pPr indent="0" marL="0">
              <a:buNone/>
            </a:pPr>
            <a:r>
              <a:rPr lang="en-US" sz="2600" b="1" dirty="0">
                <a:solidFill>
                  <a:srgbClr val="F2C012"/>
                </a:solidFill>
                <a:latin typeface="Cambria" pitchFamily="34" charset="0"/>
                <a:ea typeface="Cambria" pitchFamily="34" charset="-122"/>
                <a:cs typeface="Cambria" pitchFamily="34" charset="-120"/>
              </a:rPr>
              <a:t>0.35 m</a:t>
            </a:r>
            <a:endParaRPr lang="en-US" sz="2600" dirty="0"/>
          </a:p>
        </p:txBody>
      </p:sp>
      <p:sp>
        <p:nvSpPr>
          <p:cNvPr id="7" name="Text 5"/>
          <p:cNvSpPr/>
          <p:nvPr/>
        </p:nvSpPr>
        <p:spPr>
          <a:xfrm>
            <a:off x="914400" y="2907792"/>
            <a:ext cx="2971800" cy="914400"/>
          </a:xfrm>
          <a:prstGeom prst="rect">
            <a:avLst/>
          </a:prstGeom>
          <a:noFill/>
          <a:ln/>
        </p:spPr>
        <p:txBody>
          <a:bodyPr wrap="square" lIns="0" tIns="0" rIns="0" bIns="0" rtlCol="0" anchor="ctr"/>
          <a:lstStyle/>
          <a:p>
            <a:pPr indent="0" marL="0">
              <a:lnSpc>
                <a:spcPts val="1700"/>
              </a:lnSpc>
              <a:buNone/>
            </a:pPr>
            <a:r>
              <a:rPr lang="en-US" sz="1250" dirty="0">
                <a:solidFill>
                  <a:srgbClr val="6B7480"/>
                </a:solidFill>
                <a:latin typeface="Calibri" pitchFamily="34" charset="0"/>
                <a:ea typeface="Calibri" pitchFamily="34" charset="-122"/>
                <a:cs typeface="Calibri" pitchFamily="34" charset="-120"/>
              </a:rPr>
              <a:t>close enough to be worth going around</a:t>
            </a:r>
            <a:endParaRPr lang="en-US" sz="1250" dirty="0"/>
          </a:p>
        </p:txBody>
      </p:sp>
      <p:sp>
        <p:nvSpPr>
          <p:cNvPr id="8" name="Shape 6"/>
          <p:cNvSpPr/>
          <p:nvPr/>
        </p:nvSpPr>
        <p:spPr>
          <a:xfrm>
            <a:off x="4416552" y="1783080"/>
            <a:ext cx="3502152" cy="2148840"/>
          </a:xfrm>
          <a:prstGeom prst="roundRect">
            <a:avLst>
              <a:gd name="adj" fmla="val 3830"/>
            </a:avLst>
          </a:prstGeom>
          <a:solidFill>
            <a:srgbClr val="F4F5F6"/>
          </a:solidFill>
          <a:ln w="12700">
            <a:solidFill>
              <a:srgbClr val="F4F5F6"/>
            </a:solidFill>
            <a:prstDash val="solid"/>
          </a:ln>
        </p:spPr>
      </p:sp>
      <p:sp>
        <p:nvSpPr>
          <p:cNvPr id="9" name="Text 7"/>
          <p:cNvSpPr/>
          <p:nvPr/>
        </p:nvSpPr>
        <p:spPr>
          <a:xfrm>
            <a:off x="4690872" y="1965960"/>
            <a:ext cx="2926080" cy="292608"/>
          </a:xfrm>
          <a:prstGeom prst="rect">
            <a:avLst/>
          </a:prstGeom>
          <a:noFill/>
          <a:ln/>
        </p:spPr>
        <p:txBody>
          <a:bodyPr wrap="square" lIns="0" tIns="0" rIns="0" bIns="0" rtlCol="0" anchor="ctr"/>
          <a:lstStyle/>
          <a:p>
            <a:pPr indent="0" marL="0">
              <a:buNone/>
            </a:pPr>
            <a:r>
              <a:rPr lang="en-US" sz="1100" b="1" spc="100" kern="0" dirty="0">
                <a:solidFill>
                  <a:srgbClr val="6B7480"/>
                </a:solidFill>
                <a:latin typeface="Calibri" pitchFamily="34" charset="0"/>
                <a:ea typeface="Calibri" pitchFamily="34" charset="-122"/>
                <a:cs typeface="Calibri" pitchFamily="34" charset="-120"/>
              </a:rPr>
              <a:t>CLEAR</a:t>
            </a:r>
            <a:endParaRPr lang="en-US" sz="1100" dirty="0"/>
          </a:p>
        </p:txBody>
      </p:sp>
      <p:sp>
        <p:nvSpPr>
          <p:cNvPr id="10" name="Text 8"/>
          <p:cNvSpPr/>
          <p:nvPr/>
        </p:nvSpPr>
        <p:spPr>
          <a:xfrm>
            <a:off x="4690872" y="2286000"/>
            <a:ext cx="3017520" cy="566928"/>
          </a:xfrm>
          <a:prstGeom prst="rect">
            <a:avLst/>
          </a:prstGeom>
          <a:noFill/>
          <a:ln/>
        </p:spPr>
        <p:txBody>
          <a:bodyPr wrap="square" lIns="0" tIns="0" rIns="0" bIns="0" rtlCol="0" anchor="ctr"/>
          <a:lstStyle/>
          <a:p>
            <a:pPr indent="0" marL="0">
              <a:buNone/>
            </a:pPr>
            <a:r>
              <a:rPr lang="en-US" sz="2600" b="1" dirty="0">
                <a:solidFill>
                  <a:srgbClr val="F2C012"/>
                </a:solidFill>
                <a:latin typeface="Cambria" pitchFamily="34" charset="0"/>
                <a:ea typeface="Cambria" pitchFamily="34" charset="-122"/>
                <a:cs typeface="Cambria" pitchFamily="34" charset="-120"/>
              </a:rPr>
              <a:t>0.50 m</a:t>
            </a:r>
            <a:endParaRPr lang="en-US" sz="2600" dirty="0"/>
          </a:p>
        </p:txBody>
      </p:sp>
      <p:sp>
        <p:nvSpPr>
          <p:cNvPr id="11" name="Text 9"/>
          <p:cNvSpPr/>
          <p:nvPr/>
        </p:nvSpPr>
        <p:spPr>
          <a:xfrm>
            <a:off x="4690872" y="2907792"/>
            <a:ext cx="2971800" cy="914400"/>
          </a:xfrm>
          <a:prstGeom prst="rect">
            <a:avLst/>
          </a:prstGeom>
          <a:noFill/>
          <a:ln/>
        </p:spPr>
        <p:txBody>
          <a:bodyPr wrap="square" lIns="0" tIns="0" rIns="0" bIns="0" rtlCol="0" anchor="ctr"/>
          <a:lstStyle/>
          <a:p>
            <a:pPr indent="0" marL="0">
              <a:lnSpc>
                <a:spcPts val="1700"/>
              </a:lnSpc>
              <a:buNone/>
            </a:pPr>
            <a:r>
              <a:rPr lang="en-US" sz="1250" dirty="0">
                <a:solidFill>
                  <a:srgbClr val="6B7480"/>
                </a:solidFill>
                <a:latin typeface="Calibri" pitchFamily="34" charset="0"/>
                <a:ea typeface="Calibri" pitchFamily="34" charset="-122"/>
                <a:cs typeface="Calibri" pitchFamily="34" charset="-120"/>
              </a:rPr>
              <a:t>the gap is hysteresis, so a reading on the limit cannot chatter</a:t>
            </a:r>
            <a:endParaRPr lang="en-US" sz="1250" dirty="0"/>
          </a:p>
        </p:txBody>
      </p:sp>
      <p:sp>
        <p:nvSpPr>
          <p:cNvPr id="12" name="Shape 10"/>
          <p:cNvSpPr/>
          <p:nvPr/>
        </p:nvSpPr>
        <p:spPr>
          <a:xfrm>
            <a:off x="8193024" y="1783080"/>
            <a:ext cx="3502152" cy="2148840"/>
          </a:xfrm>
          <a:prstGeom prst="roundRect">
            <a:avLst>
              <a:gd name="adj" fmla="val 3830"/>
            </a:avLst>
          </a:prstGeom>
          <a:solidFill>
            <a:srgbClr val="F4F5F6"/>
          </a:solidFill>
          <a:ln w="12700">
            <a:solidFill>
              <a:srgbClr val="F4F5F6"/>
            </a:solidFill>
            <a:prstDash val="solid"/>
          </a:ln>
        </p:spPr>
      </p:sp>
      <p:sp>
        <p:nvSpPr>
          <p:cNvPr id="13" name="Text 11"/>
          <p:cNvSpPr/>
          <p:nvPr/>
        </p:nvSpPr>
        <p:spPr>
          <a:xfrm>
            <a:off x="8467344" y="1965960"/>
            <a:ext cx="2926080" cy="292608"/>
          </a:xfrm>
          <a:prstGeom prst="rect">
            <a:avLst/>
          </a:prstGeom>
          <a:noFill/>
          <a:ln/>
        </p:spPr>
        <p:txBody>
          <a:bodyPr wrap="square" lIns="0" tIns="0" rIns="0" bIns="0" rtlCol="0" anchor="ctr"/>
          <a:lstStyle/>
          <a:p>
            <a:pPr indent="0" marL="0">
              <a:buNone/>
            </a:pPr>
            <a:r>
              <a:rPr lang="en-US" sz="1100" b="1" spc="100" kern="0" dirty="0">
                <a:solidFill>
                  <a:srgbClr val="6B7480"/>
                </a:solidFill>
                <a:latin typeface="Calibri" pitchFamily="34" charset="0"/>
                <a:ea typeface="Calibri" pitchFamily="34" charset="-122"/>
                <a:cs typeface="Calibri" pitchFamily="34" charset="-120"/>
              </a:rPr>
              <a:t>SWERVE</a:t>
            </a:r>
            <a:endParaRPr lang="en-US" sz="1100" dirty="0"/>
          </a:p>
        </p:txBody>
      </p:sp>
      <p:sp>
        <p:nvSpPr>
          <p:cNvPr id="14" name="Text 12"/>
          <p:cNvSpPr/>
          <p:nvPr/>
        </p:nvSpPr>
        <p:spPr>
          <a:xfrm>
            <a:off x="8467344" y="2286000"/>
            <a:ext cx="3017520" cy="566928"/>
          </a:xfrm>
          <a:prstGeom prst="rect">
            <a:avLst/>
          </a:prstGeom>
          <a:noFill/>
          <a:ln/>
        </p:spPr>
        <p:txBody>
          <a:bodyPr wrap="square" lIns="0" tIns="0" rIns="0" bIns="0" rtlCol="0" anchor="ctr"/>
          <a:lstStyle/>
          <a:p>
            <a:pPr indent="0" marL="0">
              <a:buNone/>
            </a:pPr>
            <a:r>
              <a:rPr lang="en-US" sz="2600" b="1" dirty="0">
                <a:solidFill>
                  <a:srgbClr val="2F6FED"/>
                </a:solidFill>
                <a:latin typeface="Cambria" pitchFamily="34" charset="0"/>
                <a:ea typeface="Cambria" pitchFamily="34" charset="-122"/>
                <a:cs typeface="Cambria" pitchFamily="34" charset="-120"/>
              </a:rPr>
              <a:t>closed loop</a:t>
            </a:r>
            <a:endParaRPr lang="en-US" sz="2600" dirty="0"/>
          </a:p>
        </p:txBody>
      </p:sp>
      <p:sp>
        <p:nvSpPr>
          <p:cNvPr id="15" name="Text 13"/>
          <p:cNvSpPr/>
          <p:nvPr/>
        </p:nvSpPr>
        <p:spPr>
          <a:xfrm>
            <a:off x="8467344" y="2907792"/>
            <a:ext cx="2971800" cy="914400"/>
          </a:xfrm>
          <a:prstGeom prst="rect">
            <a:avLst/>
          </a:prstGeom>
          <a:noFill/>
          <a:ln/>
        </p:spPr>
        <p:txBody>
          <a:bodyPr wrap="square" lIns="0" tIns="0" rIns="0" bIns="0" rtlCol="0" anchor="ctr"/>
          <a:lstStyle/>
          <a:p>
            <a:pPr indent="0" marL="0">
              <a:lnSpc>
                <a:spcPts val="1700"/>
              </a:lnSpc>
              <a:buNone/>
            </a:pPr>
            <a:r>
              <a:rPr lang="en-US" sz="1250" dirty="0">
                <a:solidFill>
                  <a:srgbClr val="6B7480"/>
                </a:solidFill>
                <a:latin typeface="Calibri" pitchFamily="34" charset="0"/>
                <a:ea typeface="Calibri" pitchFamily="34" charset="-122"/>
                <a:cs typeface="Calibri" pitchFamily="34" charset="-120"/>
              </a:rPr>
              <a:t>the steering target slides across the centre line and back</a:t>
            </a:r>
            <a:endParaRPr lang="en-US" sz="1250" dirty="0"/>
          </a:p>
        </p:txBody>
      </p:sp>
      <p:sp>
        <p:nvSpPr>
          <p:cNvPr id="16" name="Shape 14"/>
          <p:cNvSpPr/>
          <p:nvPr/>
        </p:nvSpPr>
        <p:spPr>
          <a:xfrm>
            <a:off x="640080" y="4160520"/>
            <a:ext cx="10881360" cy="1280160"/>
          </a:xfrm>
          <a:prstGeom prst="roundRect">
            <a:avLst>
              <a:gd name="adj" fmla="val 6429"/>
            </a:avLst>
          </a:prstGeom>
          <a:solidFill>
            <a:srgbClr val="1F2428"/>
          </a:solidFill>
          <a:ln w="12700">
            <a:solidFill>
              <a:srgbClr val="1F2428"/>
            </a:solidFill>
            <a:prstDash val="solid"/>
          </a:ln>
        </p:spPr>
      </p:sp>
      <p:sp>
        <p:nvSpPr>
          <p:cNvPr id="17" name="Text 15"/>
          <p:cNvSpPr/>
          <p:nvPr/>
        </p:nvSpPr>
        <p:spPr>
          <a:xfrm>
            <a:off x="960120" y="4343400"/>
            <a:ext cx="7772400" cy="365760"/>
          </a:xfrm>
          <a:prstGeom prst="rect">
            <a:avLst/>
          </a:prstGeom>
          <a:noFill/>
          <a:ln/>
        </p:spPr>
        <p:txBody>
          <a:bodyPr wrap="square" lIns="0" tIns="0" rIns="0" bIns="0" rtlCol="0" anchor="ctr"/>
          <a:lstStyle/>
          <a:p>
            <a:pPr indent="0" marL="0">
              <a:buNone/>
            </a:pPr>
            <a:r>
              <a:rPr lang="en-US" sz="1550" b="1" dirty="0">
                <a:solidFill>
                  <a:srgbClr val="F2C012"/>
                </a:solidFill>
                <a:latin typeface="Calibri" pitchFamily="34" charset="0"/>
                <a:ea typeface="Calibri" pitchFamily="34" charset="-122"/>
                <a:cs typeface="Calibri" pitchFamily="34" charset="-120"/>
              </a:rPr>
              <a:t>The detector never touches the vision pipeline</a:t>
            </a:r>
            <a:endParaRPr lang="en-US" sz="1550" dirty="0"/>
          </a:p>
        </p:txBody>
      </p:sp>
      <p:sp>
        <p:nvSpPr>
          <p:cNvPr id="18" name="Text 16"/>
          <p:cNvSpPr/>
          <p:nvPr/>
        </p:nvSpPr>
        <p:spPr>
          <a:xfrm>
            <a:off x="960120" y="4736592"/>
            <a:ext cx="10241280" cy="548640"/>
          </a:xfrm>
          <a:prstGeom prst="rect">
            <a:avLst/>
          </a:prstGeom>
          <a:noFill/>
          <a:ln/>
        </p:spPr>
        <p:txBody>
          <a:bodyPr wrap="square" lIns="0" tIns="0" rIns="0" bIns="0" rtlCol="0" anchor="ctr"/>
          <a:lstStyle/>
          <a:p>
            <a:pPr indent="0" marL="0">
              <a:buNone/>
            </a:pPr>
            <a:r>
              <a:rPr lang="en-US" sz="1300" dirty="0">
                <a:solidFill>
                  <a:srgbClr val="C7CED6"/>
                </a:solidFill>
                <a:latin typeface="Calibri" pitchFamily="34" charset="0"/>
                <a:ea typeface="Calibri" pitchFamily="34" charset="-122"/>
                <a:cs typeface="Calibri" pitchFamily="34" charset="-120"/>
              </a:rPr>
              <a:t>A bad range reading cannot corrupt the centre-line measurement that steering depends on, so the failure mode from the camera attempt is structurally impossible.</a:t>
            </a:r>
            <a:endParaRPr lang="en-US" sz="1300" dirty="0"/>
          </a:p>
        </p:txBody>
      </p:sp>
      <p:sp>
        <p:nvSpPr>
          <p:cNvPr id="19" name="Text 17"/>
          <p:cNvSpPr/>
          <p:nvPr/>
        </p:nvSpPr>
        <p:spPr>
          <a:xfrm>
            <a:off x="640080" y="5623560"/>
            <a:ext cx="10972800" cy="548640"/>
          </a:xfrm>
          <a:prstGeom prst="rect">
            <a:avLst/>
          </a:prstGeom>
          <a:noFill/>
          <a:ln/>
        </p:spPr>
        <p:txBody>
          <a:bodyPr wrap="square" lIns="0" tIns="0" rIns="0" bIns="0" rtlCol="0" anchor="ctr"/>
          <a:lstStyle/>
          <a:p>
            <a:pPr indent="0" marL="0">
              <a:buNone/>
            </a:pPr>
            <a:r>
              <a:rPr lang="en-US" sz="1200" i="1" dirty="0">
                <a:solidFill>
                  <a:srgbClr val="6B7480"/>
                </a:solidFill>
                <a:latin typeface="Calibri" pitchFamily="34" charset="0"/>
                <a:ea typeface="Calibri" pitchFamily="34" charset="-122"/>
                <a:cs typeface="Calibri" pitchFamily="34" charset="-120"/>
              </a:rPr>
              <a:t>A previous TUM batch reached the same conclusion: Duckietown-Btown used the same range sensor, and the team that stayed with the camera trained a neural detector instead.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15181D"/>
                </a:solidFill>
                <a:latin typeface="Cambria" pitchFamily="34" charset="0"/>
                <a:ea typeface="Cambria" pitchFamily="34" charset="-122"/>
                <a:cs typeface="Cambria" pitchFamily="34" charset="-120"/>
              </a:rPr>
              <a:t>Driving it: click two tiles</a:t>
            </a:r>
            <a:endParaRPr lang="en-US" sz="3400" dirty="0"/>
          </a:p>
        </p:txBody>
      </p:sp>
      <p:sp>
        <p:nvSpPr>
          <p:cNvPr id="3" name="Text 1"/>
          <p:cNvSpPr/>
          <p:nvPr/>
        </p:nvSpPr>
        <p:spPr>
          <a:xfrm>
            <a:off x="640080" y="1371600"/>
            <a:ext cx="4937760" cy="2286000"/>
          </a:xfrm>
          <a:prstGeom prst="rect">
            <a:avLst/>
          </a:prstGeom>
          <a:noFill/>
          <a:ln/>
        </p:spPr>
        <p:txBody>
          <a:bodyPr wrap="square" lIns="0" tIns="0" rIns="0" bIns="0" rtlCol="0" anchor="ctr"/>
          <a:lstStyle/>
          <a:p>
            <a:pPr marL="342900" indent="-342900">
              <a:lnSpc>
                <a:spcPts val="2000"/>
              </a:lnSpc>
              <a:spcAft>
                <a:spcPts val="900"/>
              </a:spcAft>
              <a:buSzPct val="100000"/>
              <a:buChar char="•"/>
            </a:pPr>
            <a:r>
              <a:rPr lang="en-US" sz="1450" dirty="0">
                <a:solidFill>
                  <a:srgbClr val="15181D"/>
                </a:solidFill>
                <a:latin typeface="Calibri" pitchFamily="34" charset="0"/>
                <a:ea typeface="Calibri" pitchFamily="34" charset="-122"/>
                <a:cs typeface="Calibri" pitchFamily="34" charset="-120"/>
              </a:rPr>
              <a:t>Click the tile the robot is on</a:t>
            </a:r>
            <a:endParaRPr lang="en-US" sz="1450" dirty="0"/>
          </a:p>
          <a:p>
            <a:pPr marL="342900" indent="-342900">
              <a:lnSpc>
                <a:spcPts val="2000"/>
              </a:lnSpc>
              <a:spcAft>
                <a:spcPts val="900"/>
              </a:spcAft>
              <a:buSzPct val="100000"/>
              <a:buChar char="•"/>
            </a:pPr>
            <a:r>
              <a:rPr lang="en-US" sz="1450" dirty="0">
                <a:solidFill>
                  <a:srgbClr val="15181D"/>
                </a:solidFill>
                <a:latin typeface="Calibri" pitchFamily="34" charset="0"/>
                <a:ea typeface="Calibri" pitchFamily="34" charset="-122"/>
                <a:cs typeface="Calibri" pitchFamily="34" charset="-120"/>
              </a:rPr>
              <a:t>Set which way it faces. Invalid headings grey out, because a corner tile cannot be faced every way.</a:t>
            </a:r>
            <a:endParaRPr lang="en-US" sz="1450" dirty="0"/>
          </a:p>
          <a:p>
            <a:pPr marL="342900" indent="-342900">
              <a:lnSpc>
                <a:spcPts val="2000"/>
              </a:lnSpc>
              <a:spcAft>
                <a:spcPts val="900"/>
              </a:spcAft>
              <a:buSzPct val="100000"/>
              <a:buChar char="•"/>
            </a:pPr>
            <a:r>
              <a:rPr lang="en-US" sz="1450" dirty="0">
                <a:solidFill>
                  <a:srgbClr val="15181D"/>
                </a:solidFill>
                <a:latin typeface="Calibri" pitchFamily="34" charset="0"/>
                <a:ea typeface="Calibri" pitchFamily="34" charset="-122"/>
                <a:cs typeface="Calibri" pitchFamily="34" charset="-120"/>
              </a:rPr>
              <a:t>Click the destination</a:t>
            </a:r>
            <a:endParaRPr lang="en-US" sz="1450" dirty="0"/>
          </a:p>
          <a:p>
            <a:pPr marL="342900" indent="-342900">
              <a:lnSpc>
                <a:spcPts val="2000"/>
              </a:lnSpc>
              <a:spcAft>
                <a:spcPts val="900"/>
              </a:spcAft>
              <a:buSzPct val="100000"/>
              <a:buChar char="•"/>
            </a:pPr>
            <a:r>
              <a:rPr lang="en-US" sz="1450" dirty="0">
                <a:solidFill>
                  <a:srgbClr val="15181D"/>
                </a:solidFill>
                <a:latin typeface="Calibri" pitchFamily="34" charset="0"/>
                <a:ea typeface="Calibri" pitchFamily="34" charset="-122"/>
                <a:cs typeface="Calibri" pitchFamily="34" charset="-120"/>
              </a:rPr>
              <a:t>Press send</a:t>
            </a:r>
            <a:endParaRPr lang="en-US" sz="1450" dirty="0"/>
          </a:p>
        </p:txBody>
      </p:sp>
      <p:sp>
        <p:nvSpPr>
          <p:cNvPr id="4" name="Shape 2"/>
          <p:cNvSpPr/>
          <p:nvPr/>
        </p:nvSpPr>
        <p:spPr>
          <a:xfrm>
            <a:off x="640080" y="3840480"/>
            <a:ext cx="4937760" cy="2011680"/>
          </a:xfrm>
          <a:prstGeom prst="roundRect">
            <a:avLst>
              <a:gd name="adj" fmla="val 4091"/>
            </a:avLst>
          </a:prstGeom>
          <a:solidFill>
            <a:srgbClr val="F4F5F6"/>
          </a:solidFill>
          <a:ln w="12700">
            <a:solidFill>
              <a:srgbClr val="F4F5F6"/>
            </a:solidFill>
            <a:prstDash val="solid"/>
          </a:ln>
        </p:spPr>
      </p:sp>
      <p:sp>
        <p:nvSpPr>
          <p:cNvPr id="5" name="Text 3"/>
          <p:cNvSpPr/>
          <p:nvPr/>
        </p:nvSpPr>
        <p:spPr>
          <a:xfrm>
            <a:off x="914400" y="4041648"/>
            <a:ext cx="4434840" cy="1005840"/>
          </a:xfrm>
          <a:prstGeom prst="rect">
            <a:avLst/>
          </a:prstGeom>
          <a:noFill/>
          <a:ln/>
        </p:spPr>
        <p:txBody>
          <a:bodyPr wrap="square" lIns="0" tIns="0" rIns="0" bIns="0" rtlCol="0" anchor="ctr"/>
          <a:lstStyle/>
          <a:p>
            <a:pPr indent="0" marL="0">
              <a:lnSpc>
                <a:spcPts val="1800"/>
              </a:lnSpc>
              <a:buNone/>
            </a:pPr>
            <a:r>
              <a:rPr lang="en-US" sz="1300" dirty="0">
                <a:solidFill>
                  <a:srgbClr val="6B7480"/>
                </a:solidFill>
                <a:latin typeface="Calibri" pitchFamily="34" charset="0"/>
                <a:ea typeface="Calibri" pitchFamily="34" charset="-122"/>
                <a:cs typeface="Calibri" pitchFamily="34" charset="-120"/>
              </a:rPr>
              <a:t>The page runs the same A* in the browser and is served by the robot itself, so it opens from any machine on the network with nothing to configure.</a:t>
            </a:r>
            <a:endParaRPr lang="en-US" sz="1300" dirty="0"/>
          </a:p>
        </p:txBody>
      </p:sp>
      <p:sp>
        <p:nvSpPr>
          <p:cNvPr id="6" name="Text 4"/>
          <p:cNvSpPr/>
          <p:nvPr/>
        </p:nvSpPr>
        <p:spPr>
          <a:xfrm>
            <a:off x="914400" y="5138928"/>
            <a:ext cx="4434840" cy="548640"/>
          </a:xfrm>
          <a:prstGeom prst="rect">
            <a:avLst/>
          </a:prstGeom>
          <a:noFill/>
          <a:ln/>
        </p:spPr>
        <p:txBody>
          <a:bodyPr wrap="square" lIns="0" tIns="0" rIns="0" bIns="0" rtlCol="0" anchor="ctr"/>
          <a:lstStyle/>
          <a:p>
            <a:pPr indent="0" marL="0">
              <a:buNone/>
            </a:pPr>
            <a:r>
              <a:rPr lang="en-US" sz="1250" b="1" dirty="0">
                <a:solidFill>
                  <a:srgbClr val="15181D"/>
                </a:solidFill>
                <a:latin typeface="Calibri" pitchFamily="34" charset="0"/>
                <a:ea typeface="Calibri" pitchFamily="34" charset="-122"/>
                <a:cs typeface="Calibri" pitchFamily="34" charset="-120"/>
              </a:rPr>
              <a:t>Cross-checked against the Python planner on all 1980 routes: identical output.</a:t>
            </a:r>
            <a:endParaRPr lang="en-US" sz="1250" dirty="0"/>
          </a:p>
        </p:txBody>
      </p:sp>
      <p:sp>
        <p:nvSpPr>
          <p:cNvPr id="7" name="Shape 5"/>
          <p:cNvSpPr/>
          <p:nvPr/>
        </p:nvSpPr>
        <p:spPr>
          <a:xfrm>
            <a:off x="7827264" y="1298448"/>
            <a:ext cx="621792" cy="621792"/>
          </a:xfrm>
          <a:prstGeom prst="rect">
            <a:avLst/>
          </a:prstGeom>
          <a:solidFill>
            <a:srgbClr val="DFE3E8"/>
          </a:solidFill>
          <a:ln w="12700">
            <a:solidFill>
              <a:srgbClr val="FFFFFF"/>
            </a:solidFill>
            <a:prstDash val="solid"/>
          </a:ln>
        </p:spPr>
      </p:sp>
      <p:sp>
        <p:nvSpPr>
          <p:cNvPr id="8" name="Shape 6"/>
          <p:cNvSpPr/>
          <p:nvPr/>
        </p:nvSpPr>
        <p:spPr>
          <a:xfrm>
            <a:off x="8449056" y="1298448"/>
            <a:ext cx="621792" cy="621792"/>
          </a:xfrm>
          <a:prstGeom prst="rect">
            <a:avLst/>
          </a:prstGeom>
          <a:solidFill>
            <a:srgbClr val="DFE3E8"/>
          </a:solidFill>
          <a:ln w="12700">
            <a:solidFill>
              <a:srgbClr val="FFFFFF"/>
            </a:solidFill>
            <a:prstDash val="solid"/>
          </a:ln>
        </p:spPr>
      </p:sp>
      <p:sp>
        <p:nvSpPr>
          <p:cNvPr id="9" name="Shape 7"/>
          <p:cNvSpPr/>
          <p:nvPr/>
        </p:nvSpPr>
        <p:spPr>
          <a:xfrm>
            <a:off x="9070848" y="1298448"/>
            <a:ext cx="621792" cy="621792"/>
          </a:xfrm>
          <a:prstGeom prst="rect">
            <a:avLst/>
          </a:prstGeom>
          <a:solidFill>
            <a:srgbClr val="DFE3E8"/>
          </a:solidFill>
          <a:ln w="12700">
            <a:solidFill>
              <a:srgbClr val="FFFFFF"/>
            </a:solidFill>
            <a:prstDash val="solid"/>
          </a:ln>
        </p:spPr>
      </p:sp>
      <p:sp>
        <p:nvSpPr>
          <p:cNvPr id="10" name="Shape 8"/>
          <p:cNvSpPr/>
          <p:nvPr/>
        </p:nvSpPr>
        <p:spPr>
          <a:xfrm>
            <a:off x="9692640" y="1298448"/>
            <a:ext cx="621792" cy="621792"/>
          </a:xfrm>
          <a:prstGeom prst="rect">
            <a:avLst/>
          </a:prstGeom>
          <a:solidFill>
            <a:srgbClr val="DFE3E8"/>
          </a:solidFill>
          <a:ln w="12700">
            <a:solidFill>
              <a:srgbClr val="FFFFFF"/>
            </a:solidFill>
            <a:prstDash val="solid"/>
          </a:ln>
        </p:spPr>
      </p:sp>
      <p:sp>
        <p:nvSpPr>
          <p:cNvPr id="11" name="Shape 9"/>
          <p:cNvSpPr/>
          <p:nvPr/>
        </p:nvSpPr>
        <p:spPr>
          <a:xfrm>
            <a:off x="7205472" y="1920240"/>
            <a:ext cx="621792" cy="621792"/>
          </a:xfrm>
          <a:prstGeom prst="rect">
            <a:avLst/>
          </a:prstGeom>
          <a:solidFill>
            <a:srgbClr val="DFE3E8"/>
          </a:solidFill>
          <a:ln w="12700">
            <a:solidFill>
              <a:srgbClr val="FFFFFF"/>
            </a:solidFill>
            <a:prstDash val="solid"/>
          </a:ln>
        </p:spPr>
      </p:sp>
      <p:sp>
        <p:nvSpPr>
          <p:cNvPr id="12" name="Shape 10"/>
          <p:cNvSpPr/>
          <p:nvPr/>
        </p:nvSpPr>
        <p:spPr>
          <a:xfrm>
            <a:off x="7827264" y="1920240"/>
            <a:ext cx="621792" cy="621792"/>
          </a:xfrm>
          <a:prstGeom prst="rect">
            <a:avLst/>
          </a:prstGeom>
          <a:solidFill>
            <a:srgbClr val="DFE3E8"/>
          </a:solidFill>
          <a:ln w="12700">
            <a:solidFill>
              <a:srgbClr val="FFFFFF"/>
            </a:solidFill>
            <a:prstDash val="solid"/>
          </a:ln>
        </p:spPr>
      </p:sp>
      <p:sp>
        <p:nvSpPr>
          <p:cNvPr id="13" name="Shape 11"/>
          <p:cNvSpPr/>
          <p:nvPr/>
        </p:nvSpPr>
        <p:spPr>
          <a:xfrm>
            <a:off x="9692640" y="1920240"/>
            <a:ext cx="621792" cy="621792"/>
          </a:xfrm>
          <a:prstGeom prst="rect">
            <a:avLst/>
          </a:prstGeom>
          <a:solidFill>
            <a:srgbClr val="DFE3E8"/>
          </a:solidFill>
          <a:ln w="12700">
            <a:solidFill>
              <a:srgbClr val="FFFFFF"/>
            </a:solidFill>
            <a:prstDash val="solid"/>
          </a:ln>
        </p:spPr>
      </p:sp>
      <p:sp>
        <p:nvSpPr>
          <p:cNvPr id="14" name="Shape 12"/>
          <p:cNvSpPr/>
          <p:nvPr/>
        </p:nvSpPr>
        <p:spPr>
          <a:xfrm>
            <a:off x="6583680" y="2542032"/>
            <a:ext cx="621792" cy="621792"/>
          </a:xfrm>
          <a:prstGeom prst="rect">
            <a:avLst/>
          </a:prstGeom>
          <a:solidFill>
            <a:srgbClr val="DFE3E8"/>
          </a:solidFill>
          <a:ln w="12700">
            <a:solidFill>
              <a:srgbClr val="FFFFFF"/>
            </a:solidFill>
            <a:prstDash val="solid"/>
          </a:ln>
        </p:spPr>
      </p:sp>
      <p:sp>
        <p:nvSpPr>
          <p:cNvPr id="15" name="Shape 13"/>
          <p:cNvSpPr/>
          <p:nvPr/>
        </p:nvSpPr>
        <p:spPr>
          <a:xfrm>
            <a:off x="7205472" y="2542032"/>
            <a:ext cx="621792" cy="621792"/>
          </a:xfrm>
          <a:prstGeom prst="rect">
            <a:avLst/>
          </a:prstGeom>
          <a:solidFill>
            <a:srgbClr val="DFE3E8"/>
          </a:solidFill>
          <a:ln w="12700">
            <a:solidFill>
              <a:srgbClr val="FFFFFF"/>
            </a:solidFill>
            <a:prstDash val="solid"/>
          </a:ln>
        </p:spPr>
      </p:sp>
      <p:sp>
        <p:nvSpPr>
          <p:cNvPr id="16" name="Shape 14"/>
          <p:cNvSpPr/>
          <p:nvPr/>
        </p:nvSpPr>
        <p:spPr>
          <a:xfrm>
            <a:off x="8449056" y="2542032"/>
            <a:ext cx="621792" cy="621792"/>
          </a:xfrm>
          <a:prstGeom prst="rect">
            <a:avLst/>
          </a:prstGeom>
          <a:solidFill>
            <a:srgbClr val="DFE3E8"/>
          </a:solidFill>
          <a:ln w="12700">
            <a:solidFill>
              <a:srgbClr val="FFFFFF"/>
            </a:solidFill>
            <a:prstDash val="solid"/>
          </a:ln>
        </p:spPr>
      </p:sp>
      <p:sp>
        <p:nvSpPr>
          <p:cNvPr id="17" name="Shape 15"/>
          <p:cNvSpPr/>
          <p:nvPr/>
        </p:nvSpPr>
        <p:spPr>
          <a:xfrm>
            <a:off x="9070848" y="2542032"/>
            <a:ext cx="621792" cy="621792"/>
          </a:xfrm>
          <a:prstGeom prst="rect">
            <a:avLst/>
          </a:prstGeom>
          <a:solidFill>
            <a:srgbClr val="DFE3E8"/>
          </a:solidFill>
          <a:ln w="12700">
            <a:solidFill>
              <a:srgbClr val="FFFFFF"/>
            </a:solidFill>
            <a:prstDash val="solid"/>
          </a:ln>
        </p:spPr>
      </p:sp>
      <p:sp>
        <p:nvSpPr>
          <p:cNvPr id="18" name="Shape 16"/>
          <p:cNvSpPr/>
          <p:nvPr/>
        </p:nvSpPr>
        <p:spPr>
          <a:xfrm>
            <a:off x="9692640" y="2542032"/>
            <a:ext cx="621792" cy="621792"/>
          </a:xfrm>
          <a:prstGeom prst="rect">
            <a:avLst/>
          </a:prstGeom>
          <a:solidFill>
            <a:srgbClr val="DFE3E8"/>
          </a:solidFill>
          <a:ln w="12700">
            <a:solidFill>
              <a:srgbClr val="FFFFFF"/>
            </a:solidFill>
            <a:prstDash val="solid"/>
          </a:ln>
        </p:spPr>
      </p:sp>
      <p:sp>
        <p:nvSpPr>
          <p:cNvPr id="19" name="Shape 17"/>
          <p:cNvSpPr/>
          <p:nvPr/>
        </p:nvSpPr>
        <p:spPr>
          <a:xfrm>
            <a:off x="6583680" y="3163824"/>
            <a:ext cx="621792" cy="621792"/>
          </a:xfrm>
          <a:prstGeom prst="rect">
            <a:avLst/>
          </a:prstGeom>
          <a:solidFill>
            <a:srgbClr val="DFE3E8"/>
          </a:solidFill>
          <a:ln w="12700">
            <a:solidFill>
              <a:srgbClr val="FFFFFF"/>
            </a:solidFill>
            <a:prstDash val="solid"/>
          </a:ln>
        </p:spPr>
      </p:sp>
      <p:sp>
        <p:nvSpPr>
          <p:cNvPr id="20" name="Shape 18"/>
          <p:cNvSpPr/>
          <p:nvPr/>
        </p:nvSpPr>
        <p:spPr>
          <a:xfrm>
            <a:off x="8449056" y="3163824"/>
            <a:ext cx="621792" cy="621792"/>
          </a:xfrm>
          <a:prstGeom prst="rect">
            <a:avLst/>
          </a:prstGeom>
          <a:solidFill>
            <a:srgbClr val="DFE3E8"/>
          </a:solidFill>
          <a:ln w="12700">
            <a:solidFill>
              <a:srgbClr val="FFFFFF"/>
            </a:solidFill>
            <a:prstDash val="solid"/>
          </a:ln>
        </p:spPr>
      </p:sp>
      <p:sp>
        <p:nvSpPr>
          <p:cNvPr id="21" name="Shape 19"/>
          <p:cNvSpPr/>
          <p:nvPr/>
        </p:nvSpPr>
        <p:spPr>
          <a:xfrm>
            <a:off x="9692640" y="3163824"/>
            <a:ext cx="621792" cy="621792"/>
          </a:xfrm>
          <a:prstGeom prst="rect">
            <a:avLst/>
          </a:prstGeom>
          <a:solidFill>
            <a:srgbClr val="DFE3E8"/>
          </a:solidFill>
          <a:ln w="12700">
            <a:solidFill>
              <a:srgbClr val="FFFFFF"/>
            </a:solidFill>
            <a:prstDash val="solid"/>
          </a:ln>
        </p:spPr>
      </p:sp>
      <p:sp>
        <p:nvSpPr>
          <p:cNvPr id="22" name="Shape 20"/>
          <p:cNvSpPr/>
          <p:nvPr/>
        </p:nvSpPr>
        <p:spPr>
          <a:xfrm>
            <a:off x="6583680" y="3785616"/>
            <a:ext cx="621792" cy="621792"/>
          </a:xfrm>
          <a:prstGeom prst="rect">
            <a:avLst/>
          </a:prstGeom>
          <a:solidFill>
            <a:srgbClr val="DFE3E8"/>
          </a:solidFill>
          <a:ln w="12700">
            <a:solidFill>
              <a:srgbClr val="FFFFFF"/>
            </a:solidFill>
            <a:prstDash val="solid"/>
          </a:ln>
        </p:spPr>
      </p:sp>
      <p:sp>
        <p:nvSpPr>
          <p:cNvPr id="23" name="Shape 21"/>
          <p:cNvSpPr/>
          <p:nvPr/>
        </p:nvSpPr>
        <p:spPr>
          <a:xfrm>
            <a:off x="7205472" y="3785616"/>
            <a:ext cx="621792" cy="621792"/>
          </a:xfrm>
          <a:prstGeom prst="rect">
            <a:avLst/>
          </a:prstGeom>
          <a:solidFill>
            <a:srgbClr val="DFE3E8"/>
          </a:solidFill>
          <a:ln w="12700">
            <a:solidFill>
              <a:srgbClr val="FFFFFF"/>
            </a:solidFill>
            <a:prstDash val="solid"/>
          </a:ln>
        </p:spPr>
      </p:sp>
      <p:sp>
        <p:nvSpPr>
          <p:cNvPr id="24" name="Shape 22"/>
          <p:cNvSpPr/>
          <p:nvPr/>
        </p:nvSpPr>
        <p:spPr>
          <a:xfrm>
            <a:off x="7827264" y="3785616"/>
            <a:ext cx="621792" cy="621792"/>
          </a:xfrm>
          <a:prstGeom prst="rect">
            <a:avLst/>
          </a:prstGeom>
          <a:solidFill>
            <a:srgbClr val="DFE3E8"/>
          </a:solidFill>
          <a:ln w="12700">
            <a:solidFill>
              <a:srgbClr val="FFFFFF"/>
            </a:solidFill>
            <a:prstDash val="solid"/>
          </a:ln>
        </p:spPr>
      </p:sp>
      <p:sp>
        <p:nvSpPr>
          <p:cNvPr id="25" name="Shape 23"/>
          <p:cNvSpPr/>
          <p:nvPr/>
        </p:nvSpPr>
        <p:spPr>
          <a:xfrm>
            <a:off x="8449056" y="3785616"/>
            <a:ext cx="621792" cy="621792"/>
          </a:xfrm>
          <a:prstGeom prst="rect">
            <a:avLst/>
          </a:prstGeom>
          <a:solidFill>
            <a:srgbClr val="DFE3E8"/>
          </a:solidFill>
          <a:ln w="12700">
            <a:solidFill>
              <a:srgbClr val="FFFFFF"/>
            </a:solidFill>
            <a:prstDash val="solid"/>
          </a:ln>
        </p:spPr>
      </p:sp>
      <p:sp>
        <p:nvSpPr>
          <p:cNvPr id="26" name="Shape 24"/>
          <p:cNvSpPr/>
          <p:nvPr/>
        </p:nvSpPr>
        <p:spPr>
          <a:xfrm>
            <a:off x="9070848" y="3785616"/>
            <a:ext cx="621792" cy="621792"/>
          </a:xfrm>
          <a:prstGeom prst="rect">
            <a:avLst/>
          </a:prstGeom>
          <a:solidFill>
            <a:srgbClr val="DFE3E8"/>
          </a:solidFill>
          <a:ln w="12700">
            <a:solidFill>
              <a:srgbClr val="FFFFFF"/>
            </a:solidFill>
            <a:prstDash val="solid"/>
          </a:ln>
        </p:spPr>
      </p:sp>
      <p:sp>
        <p:nvSpPr>
          <p:cNvPr id="27" name="Shape 25"/>
          <p:cNvSpPr/>
          <p:nvPr/>
        </p:nvSpPr>
        <p:spPr>
          <a:xfrm>
            <a:off x="9692640" y="3785616"/>
            <a:ext cx="621792" cy="621792"/>
          </a:xfrm>
          <a:prstGeom prst="rect">
            <a:avLst/>
          </a:prstGeom>
          <a:solidFill>
            <a:srgbClr val="DFE3E8"/>
          </a:solidFill>
          <a:ln w="12700">
            <a:solidFill>
              <a:srgbClr val="FFFFFF"/>
            </a:solidFill>
            <a:prstDash val="solid"/>
          </a:ln>
        </p:spPr>
      </p:sp>
      <p:sp>
        <p:nvSpPr>
          <p:cNvPr id="28" name="Shape 26"/>
          <p:cNvSpPr/>
          <p:nvPr/>
        </p:nvSpPr>
        <p:spPr>
          <a:xfrm>
            <a:off x="6583680" y="4407408"/>
            <a:ext cx="621792" cy="621792"/>
          </a:xfrm>
          <a:prstGeom prst="rect">
            <a:avLst/>
          </a:prstGeom>
          <a:solidFill>
            <a:srgbClr val="DFE3E8"/>
          </a:solidFill>
          <a:ln w="12700">
            <a:solidFill>
              <a:srgbClr val="FFFFFF"/>
            </a:solidFill>
            <a:prstDash val="solid"/>
          </a:ln>
        </p:spPr>
      </p:sp>
      <p:sp>
        <p:nvSpPr>
          <p:cNvPr id="29" name="Shape 27"/>
          <p:cNvSpPr/>
          <p:nvPr/>
        </p:nvSpPr>
        <p:spPr>
          <a:xfrm>
            <a:off x="8449056" y="4407408"/>
            <a:ext cx="621792" cy="621792"/>
          </a:xfrm>
          <a:prstGeom prst="rect">
            <a:avLst/>
          </a:prstGeom>
          <a:solidFill>
            <a:srgbClr val="DFE3E8"/>
          </a:solidFill>
          <a:ln w="12700">
            <a:solidFill>
              <a:srgbClr val="FFFFFF"/>
            </a:solidFill>
            <a:prstDash val="solid"/>
          </a:ln>
        </p:spPr>
      </p:sp>
      <p:sp>
        <p:nvSpPr>
          <p:cNvPr id="30" name="Shape 28"/>
          <p:cNvSpPr/>
          <p:nvPr/>
        </p:nvSpPr>
        <p:spPr>
          <a:xfrm>
            <a:off x="9692640" y="4407408"/>
            <a:ext cx="621792" cy="621792"/>
          </a:xfrm>
          <a:prstGeom prst="rect">
            <a:avLst/>
          </a:prstGeom>
          <a:solidFill>
            <a:srgbClr val="DFE3E8"/>
          </a:solidFill>
          <a:ln w="12700">
            <a:solidFill>
              <a:srgbClr val="FFFFFF"/>
            </a:solidFill>
            <a:prstDash val="solid"/>
          </a:ln>
        </p:spPr>
      </p:sp>
      <p:sp>
        <p:nvSpPr>
          <p:cNvPr id="31" name="Shape 29"/>
          <p:cNvSpPr/>
          <p:nvPr/>
        </p:nvSpPr>
        <p:spPr>
          <a:xfrm>
            <a:off x="6583680" y="5029200"/>
            <a:ext cx="621792" cy="621792"/>
          </a:xfrm>
          <a:prstGeom prst="rect">
            <a:avLst/>
          </a:prstGeom>
          <a:solidFill>
            <a:srgbClr val="DFE3E8"/>
          </a:solidFill>
          <a:ln w="12700">
            <a:solidFill>
              <a:srgbClr val="FFFFFF"/>
            </a:solidFill>
            <a:prstDash val="solid"/>
          </a:ln>
        </p:spPr>
      </p:sp>
      <p:sp>
        <p:nvSpPr>
          <p:cNvPr id="32" name="Shape 30"/>
          <p:cNvSpPr/>
          <p:nvPr/>
        </p:nvSpPr>
        <p:spPr>
          <a:xfrm>
            <a:off x="7205472" y="5029200"/>
            <a:ext cx="621792" cy="621792"/>
          </a:xfrm>
          <a:prstGeom prst="rect">
            <a:avLst/>
          </a:prstGeom>
          <a:solidFill>
            <a:srgbClr val="DFE3E8"/>
          </a:solidFill>
          <a:ln w="12700">
            <a:solidFill>
              <a:srgbClr val="FFFFFF"/>
            </a:solidFill>
            <a:prstDash val="solid"/>
          </a:ln>
        </p:spPr>
      </p:sp>
      <p:sp>
        <p:nvSpPr>
          <p:cNvPr id="33" name="Shape 31"/>
          <p:cNvSpPr/>
          <p:nvPr/>
        </p:nvSpPr>
        <p:spPr>
          <a:xfrm>
            <a:off x="7827264" y="5029200"/>
            <a:ext cx="621792" cy="621792"/>
          </a:xfrm>
          <a:prstGeom prst="rect">
            <a:avLst/>
          </a:prstGeom>
          <a:solidFill>
            <a:srgbClr val="DFE3E8"/>
          </a:solidFill>
          <a:ln w="12700">
            <a:solidFill>
              <a:srgbClr val="FFFFFF"/>
            </a:solidFill>
            <a:prstDash val="solid"/>
          </a:ln>
        </p:spPr>
      </p:sp>
      <p:sp>
        <p:nvSpPr>
          <p:cNvPr id="34" name="Shape 32"/>
          <p:cNvSpPr/>
          <p:nvPr/>
        </p:nvSpPr>
        <p:spPr>
          <a:xfrm>
            <a:off x="8449056" y="5029200"/>
            <a:ext cx="621792" cy="621792"/>
          </a:xfrm>
          <a:prstGeom prst="rect">
            <a:avLst/>
          </a:prstGeom>
          <a:solidFill>
            <a:srgbClr val="DFE3E8"/>
          </a:solidFill>
          <a:ln w="12700">
            <a:solidFill>
              <a:srgbClr val="FFFFFF"/>
            </a:solidFill>
            <a:prstDash val="solid"/>
          </a:ln>
        </p:spPr>
      </p:sp>
      <p:sp>
        <p:nvSpPr>
          <p:cNvPr id="35" name="Shape 33"/>
          <p:cNvSpPr/>
          <p:nvPr/>
        </p:nvSpPr>
        <p:spPr>
          <a:xfrm>
            <a:off x="9070848" y="5029200"/>
            <a:ext cx="621792" cy="621792"/>
          </a:xfrm>
          <a:prstGeom prst="rect">
            <a:avLst/>
          </a:prstGeom>
          <a:solidFill>
            <a:srgbClr val="DFE3E8"/>
          </a:solidFill>
          <a:ln w="12700">
            <a:solidFill>
              <a:srgbClr val="FFFFFF"/>
            </a:solidFill>
            <a:prstDash val="solid"/>
          </a:ln>
        </p:spPr>
      </p:sp>
      <p:sp>
        <p:nvSpPr>
          <p:cNvPr id="36" name="Shape 34"/>
          <p:cNvSpPr/>
          <p:nvPr/>
        </p:nvSpPr>
        <p:spPr>
          <a:xfrm>
            <a:off x="9692640" y="5029200"/>
            <a:ext cx="621792" cy="621792"/>
          </a:xfrm>
          <a:prstGeom prst="rect">
            <a:avLst/>
          </a:prstGeom>
          <a:solidFill>
            <a:srgbClr val="DFE3E8"/>
          </a:solidFill>
          <a:ln w="12700">
            <a:solidFill>
              <a:srgbClr val="FFFFFF"/>
            </a:solidFill>
            <a:prstDash val="solid"/>
          </a:ln>
        </p:spPr>
      </p:sp>
      <p:sp>
        <p:nvSpPr>
          <p:cNvPr id="37" name="Shape 35"/>
          <p:cNvSpPr/>
          <p:nvPr/>
        </p:nvSpPr>
        <p:spPr>
          <a:xfrm>
            <a:off x="6894576" y="5340096"/>
            <a:ext cx="0" cy="-621792"/>
          </a:xfrm>
          <a:prstGeom prst="line">
            <a:avLst/>
          </a:prstGeom>
          <a:noFill/>
          <a:ln w="50800">
            <a:solidFill>
              <a:srgbClr val="2F6FED"/>
            </a:solidFill>
            <a:prstDash val="solid"/>
          </a:ln>
        </p:spPr>
      </p:sp>
      <p:sp>
        <p:nvSpPr>
          <p:cNvPr id="38" name="Shape 36"/>
          <p:cNvSpPr/>
          <p:nvPr/>
        </p:nvSpPr>
        <p:spPr>
          <a:xfrm>
            <a:off x="6894576" y="4718304"/>
            <a:ext cx="0" cy="-621792"/>
          </a:xfrm>
          <a:prstGeom prst="line">
            <a:avLst/>
          </a:prstGeom>
          <a:noFill/>
          <a:ln w="50800">
            <a:solidFill>
              <a:srgbClr val="2F6FED"/>
            </a:solidFill>
            <a:prstDash val="solid"/>
          </a:ln>
        </p:spPr>
      </p:sp>
      <p:sp>
        <p:nvSpPr>
          <p:cNvPr id="39" name="Shape 37"/>
          <p:cNvSpPr/>
          <p:nvPr/>
        </p:nvSpPr>
        <p:spPr>
          <a:xfrm>
            <a:off x="6894576" y="4096512"/>
            <a:ext cx="621792" cy="0"/>
          </a:xfrm>
          <a:prstGeom prst="line">
            <a:avLst/>
          </a:prstGeom>
          <a:noFill/>
          <a:ln w="50800">
            <a:solidFill>
              <a:srgbClr val="2F6FED"/>
            </a:solidFill>
            <a:prstDash val="solid"/>
          </a:ln>
        </p:spPr>
      </p:sp>
      <p:sp>
        <p:nvSpPr>
          <p:cNvPr id="40" name="Shape 38"/>
          <p:cNvSpPr/>
          <p:nvPr/>
        </p:nvSpPr>
        <p:spPr>
          <a:xfrm>
            <a:off x="7516368" y="4096512"/>
            <a:ext cx="621792" cy="0"/>
          </a:xfrm>
          <a:prstGeom prst="line">
            <a:avLst/>
          </a:prstGeom>
          <a:noFill/>
          <a:ln w="50800">
            <a:solidFill>
              <a:srgbClr val="2F6FED"/>
            </a:solidFill>
            <a:prstDash val="solid"/>
          </a:ln>
        </p:spPr>
      </p:sp>
      <p:sp>
        <p:nvSpPr>
          <p:cNvPr id="41" name="Shape 39"/>
          <p:cNvSpPr/>
          <p:nvPr/>
        </p:nvSpPr>
        <p:spPr>
          <a:xfrm>
            <a:off x="8138160" y="4096512"/>
            <a:ext cx="621792" cy="0"/>
          </a:xfrm>
          <a:prstGeom prst="line">
            <a:avLst/>
          </a:prstGeom>
          <a:noFill/>
          <a:ln w="50800">
            <a:solidFill>
              <a:srgbClr val="2F6FED"/>
            </a:solidFill>
            <a:prstDash val="solid"/>
          </a:ln>
        </p:spPr>
      </p:sp>
      <p:sp>
        <p:nvSpPr>
          <p:cNvPr id="42" name="Shape 40"/>
          <p:cNvSpPr/>
          <p:nvPr/>
        </p:nvSpPr>
        <p:spPr>
          <a:xfrm>
            <a:off x="8759952" y="4096512"/>
            <a:ext cx="621792" cy="0"/>
          </a:xfrm>
          <a:prstGeom prst="line">
            <a:avLst/>
          </a:prstGeom>
          <a:noFill/>
          <a:ln w="50800">
            <a:solidFill>
              <a:srgbClr val="2F6FED"/>
            </a:solidFill>
            <a:prstDash val="solid"/>
          </a:ln>
        </p:spPr>
      </p:sp>
      <p:sp>
        <p:nvSpPr>
          <p:cNvPr id="43" name="Shape 41"/>
          <p:cNvSpPr/>
          <p:nvPr/>
        </p:nvSpPr>
        <p:spPr>
          <a:xfrm>
            <a:off x="9381744" y="4096512"/>
            <a:ext cx="621792" cy="0"/>
          </a:xfrm>
          <a:prstGeom prst="line">
            <a:avLst/>
          </a:prstGeom>
          <a:noFill/>
          <a:ln w="50800">
            <a:solidFill>
              <a:srgbClr val="2F6FED"/>
            </a:solidFill>
            <a:prstDash val="solid"/>
          </a:ln>
        </p:spPr>
      </p:sp>
      <p:sp>
        <p:nvSpPr>
          <p:cNvPr id="44" name="Shape 42"/>
          <p:cNvSpPr/>
          <p:nvPr/>
        </p:nvSpPr>
        <p:spPr>
          <a:xfrm>
            <a:off x="10003536" y="4096512"/>
            <a:ext cx="0" cy="-621792"/>
          </a:xfrm>
          <a:prstGeom prst="line">
            <a:avLst/>
          </a:prstGeom>
          <a:noFill/>
          <a:ln w="50800">
            <a:solidFill>
              <a:srgbClr val="2F6FED"/>
            </a:solidFill>
            <a:prstDash val="solid"/>
          </a:ln>
        </p:spPr>
      </p:sp>
      <p:sp>
        <p:nvSpPr>
          <p:cNvPr id="45" name="Shape 43"/>
          <p:cNvSpPr/>
          <p:nvPr/>
        </p:nvSpPr>
        <p:spPr>
          <a:xfrm>
            <a:off x="10003536" y="3474720"/>
            <a:ext cx="0" cy="-621792"/>
          </a:xfrm>
          <a:prstGeom prst="line">
            <a:avLst/>
          </a:prstGeom>
          <a:noFill/>
          <a:ln w="50800">
            <a:solidFill>
              <a:srgbClr val="2F6FED"/>
            </a:solidFill>
            <a:prstDash val="solid"/>
          </a:ln>
        </p:spPr>
      </p:sp>
      <p:sp>
        <p:nvSpPr>
          <p:cNvPr id="46" name="Shape 44"/>
          <p:cNvSpPr/>
          <p:nvPr/>
        </p:nvSpPr>
        <p:spPr>
          <a:xfrm>
            <a:off x="10003536" y="2852928"/>
            <a:ext cx="0" cy="-621792"/>
          </a:xfrm>
          <a:prstGeom prst="line">
            <a:avLst/>
          </a:prstGeom>
          <a:noFill/>
          <a:ln w="50800">
            <a:solidFill>
              <a:srgbClr val="2F6FED"/>
            </a:solidFill>
            <a:prstDash val="solid"/>
          </a:ln>
        </p:spPr>
      </p:sp>
      <p:sp>
        <p:nvSpPr>
          <p:cNvPr id="47" name="Shape 45"/>
          <p:cNvSpPr/>
          <p:nvPr/>
        </p:nvSpPr>
        <p:spPr>
          <a:xfrm>
            <a:off x="10003536" y="2231136"/>
            <a:ext cx="0" cy="-621792"/>
          </a:xfrm>
          <a:prstGeom prst="line">
            <a:avLst/>
          </a:prstGeom>
          <a:noFill/>
          <a:ln w="50800">
            <a:solidFill>
              <a:srgbClr val="2F6FED"/>
            </a:solidFill>
            <a:prstDash val="solid"/>
          </a:ln>
        </p:spPr>
      </p:sp>
      <p:sp>
        <p:nvSpPr>
          <p:cNvPr id="48" name="Shape 46"/>
          <p:cNvSpPr/>
          <p:nvPr/>
        </p:nvSpPr>
        <p:spPr>
          <a:xfrm>
            <a:off x="9930384" y="2779776"/>
            <a:ext cx="237744" cy="237744"/>
          </a:xfrm>
          <a:prstGeom prst="ellipse">
            <a:avLst/>
          </a:prstGeom>
          <a:solidFill>
            <a:srgbClr val="D93A2E"/>
          </a:solidFill>
          <a:ln/>
        </p:spPr>
      </p:sp>
      <p:sp>
        <p:nvSpPr>
          <p:cNvPr id="49" name="Shape 47"/>
          <p:cNvSpPr/>
          <p:nvPr/>
        </p:nvSpPr>
        <p:spPr>
          <a:xfrm>
            <a:off x="6821424" y="4023360"/>
            <a:ext cx="237744" cy="237744"/>
          </a:xfrm>
          <a:prstGeom prst="ellipse">
            <a:avLst/>
          </a:prstGeom>
          <a:solidFill>
            <a:srgbClr val="D93A2E"/>
          </a:solidFill>
          <a:ln/>
        </p:spPr>
      </p:sp>
      <p:sp>
        <p:nvSpPr>
          <p:cNvPr id="50" name="Shape 48"/>
          <p:cNvSpPr/>
          <p:nvPr/>
        </p:nvSpPr>
        <p:spPr>
          <a:xfrm>
            <a:off x="8686800" y="4023360"/>
            <a:ext cx="237744" cy="237744"/>
          </a:xfrm>
          <a:prstGeom prst="ellipse">
            <a:avLst/>
          </a:prstGeom>
          <a:solidFill>
            <a:srgbClr val="D93A2E"/>
          </a:solidFill>
          <a:ln/>
        </p:spPr>
      </p:sp>
      <p:sp>
        <p:nvSpPr>
          <p:cNvPr id="51" name="Shape 49"/>
          <p:cNvSpPr/>
          <p:nvPr/>
        </p:nvSpPr>
        <p:spPr>
          <a:xfrm>
            <a:off x="9930384" y="4023360"/>
            <a:ext cx="237744" cy="237744"/>
          </a:xfrm>
          <a:prstGeom prst="ellipse">
            <a:avLst/>
          </a:prstGeom>
          <a:solidFill>
            <a:srgbClr val="D93A2E"/>
          </a:solidFill>
          <a:ln/>
        </p:spPr>
      </p:sp>
      <p:sp>
        <p:nvSpPr>
          <p:cNvPr id="52" name="Shape 50"/>
          <p:cNvSpPr/>
          <p:nvPr/>
        </p:nvSpPr>
        <p:spPr>
          <a:xfrm>
            <a:off x="8686800" y="5266944"/>
            <a:ext cx="237744" cy="237744"/>
          </a:xfrm>
          <a:prstGeom prst="ellipse">
            <a:avLst/>
          </a:prstGeom>
          <a:solidFill>
            <a:srgbClr val="D93A2E"/>
          </a:solidFill>
          <a:ln/>
        </p:spPr>
      </p:sp>
      <p:sp>
        <p:nvSpPr>
          <p:cNvPr id="53" name="Shape 51"/>
          <p:cNvSpPr/>
          <p:nvPr/>
        </p:nvSpPr>
        <p:spPr>
          <a:xfrm>
            <a:off x="6757416" y="5202936"/>
            <a:ext cx="365760" cy="365760"/>
          </a:xfrm>
          <a:prstGeom prst="ellipse">
            <a:avLst/>
          </a:prstGeom>
          <a:solidFill>
            <a:srgbClr val="1E9E5A"/>
          </a:solidFill>
          <a:ln/>
        </p:spPr>
      </p:sp>
      <p:sp>
        <p:nvSpPr>
          <p:cNvPr id="54" name="Text 52"/>
          <p:cNvSpPr/>
          <p:nvPr/>
        </p:nvSpPr>
        <p:spPr>
          <a:xfrm>
            <a:off x="6537960" y="5687568"/>
            <a:ext cx="1097280" cy="274320"/>
          </a:xfrm>
          <a:prstGeom prst="rect">
            <a:avLst/>
          </a:prstGeom>
          <a:noFill/>
          <a:ln/>
        </p:spPr>
        <p:txBody>
          <a:bodyPr wrap="square" lIns="0" tIns="0" rIns="0" bIns="0" rtlCol="0" anchor="ctr"/>
          <a:lstStyle/>
          <a:p>
            <a:pPr indent="0" marL="0">
              <a:buNone/>
            </a:pPr>
            <a:r>
              <a:rPr lang="en-US" sz="1050" b="1" dirty="0">
                <a:solidFill>
                  <a:srgbClr val="1E9E5A"/>
                </a:solidFill>
                <a:latin typeface="Calibri" pitchFamily="34" charset="0"/>
                <a:ea typeface="Calibri" pitchFamily="34" charset="-122"/>
                <a:cs typeface="Calibri" pitchFamily="34" charset="-120"/>
              </a:rPr>
              <a:t>start</a:t>
            </a:r>
            <a:endParaRPr lang="en-US" sz="1050" dirty="0"/>
          </a:p>
        </p:txBody>
      </p:sp>
      <p:sp>
        <p:nvSpPr>
          <p:cNvPr id="55" name="Text 53"/>
          <p:cNvSpPr/>
          <p:nvPr/>
        </p:nvSpPr>
        <p:spPr>
          <a:xfrm>
            <a:off x="10405872" y="1426464"/>
            <a:ext cx="914400" cy="274320"/>
          </a:xfrm>
          <a:prstGeom prst="rect">
            <a:avLst/>
          </a:prstGeom>
          <a:noFill/>
          <a:ln/>
        </p:spPr>
        <p:txBody>
          <a:bodyPr wrap="square" lIns="0" tIns="0" rIns="0" bIns="0" rtlCol="0" anchor="ctr"/>
          <a:lstStyle/>
          <a:p>
            <a:pPr indent="0" marL="0">
              <a:buNone/>
            </a:pPr>
            <a:r>
              <a:rPr lang="en-US" sz="1050" b="1" dirty="0">
                <a:solidFill>
                  <a:srgbClr val="2F6FED"/>
                </a:solidFill>
                <a:latin typeface="Calibri" pitchFamily="34" charset="0"/>
                <a:ea typeface="Calibri" pitchFamily="34" charset="-122"/>
                <a:cs typeface="Calibri" pitchFamily="34" charset="-120"/>
              </a:rPr>
              <a:t>end</a:t>
            </a:r>
            <a:endParaRPr lang="en-US" sz="1050" dirty="0"/>
          </a:p>
        </p:txBody>
      </p:sp>
      <p:sp>
        <p:nvSpPr>
          <p:cNvPr id="56" name="Text 54"/>
          <p:cNvSpPr/>
          <p:nvPr/>
        </p:nvSpPr>
        <p:spPr>
          <a:xfrm>
            <a:off x="6537960" y="6035040"/>
            <a:ext cx="4572000" cy="365760"/>
          </a:xfrm>
          <a:prstGeom prst="rect">
            <a:avLst/>
          </a:prstGeom>
          <a:noFill/>
          <a:ln/>
        </p:spPr>
        <p:txBody>
          <a:bodyPr wrap="square" lIns="0" tIns="0" rIns="0" bIns="0" rtlCol="0" anchor="ctr"/>
          <a:lstStyle/>
          <a:p>
            <a:pPr indent="0" marL="0">
              <a:buNone/>
            </a:pPr>
            <a:r>
              <a:rPr lang="en-US" sz="1250" dirty="0">
                <a:solidFill>
                  <a:srgbClr val="15181D"/>
                </a:solidFill>
                <a:latin typeface="Consolas" pitchFamily="34" charset="0"/>
                <a:ea typeface="Consolas" pitchFamily="34" charset="-122"/>
                <a:cs typeface="Consolas" pitchFamily="34" charset="-120"/>
              </a:rPr>
              <a:t>right  &gt;  straight  &gt;  left  &gt;  straight  &gt;  stop</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2428"/>
        </a:solidFill>
      </p:bgPr>
    </p:bg>
    <p:spTree>
      <p:nvGrpSpPr>
        <p:cNvPr id="1" name=""/>
        <p:cNvGrpSpPr/>
        <p:nvPr/>
      </p:nvGrpSpPr>
      <p:grpSpPr>
        <a:xfrm>
          <a:off x="0" y="0"/>
          <a:ext cx="0" cy="0"/>
          <a:chOff x="0" y="0"/>
          <a:chExt cx="0" cy="0"/>
        </a:xfrm>
      </p:grpSpPr>
      <p:sp>
        <p:nvSpPr>
          <p:cNvPr id="2" name="Text 0"/>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the project taught us</a:t>
            </a:r>
            <a:endParaRPr lang="en-US" sz="3400" dirty="0"/>
          </a:p>
        </p:txBody>
      </p:sp>
      <p:sp>
        <p:nvSpPr>
          <p:cNvPr id="3" name="Shape 1"/>
          <p:cNvSpPr/>
          <p:nvPr/>
        </p:nvSpPr>
        <p:spPr>
          <a:xfrm>
            <a:off x="640080" y="1371600"/>
            <a:ext cx="5349240" cy="1920240"/>
          </a:xfrm>
          <a:prstGeom prst="roundRect">
            <a:avLst>
              <a:gd name="adj" fmla="val 4286"/>
            </a:avLst>
          </a:prstGeom>
          <a:solidFill>
            <a:srgbClr val="2C3238"/>
          </a:solidFill>
          <a:ln w="12700">
            <a:solidFill>
              <a:srgbClr val="2C3238"/>
            </a:solidFill>
            <a:prstDash val="solid"/>
          </a:ln>
        </p:spPr>
      </p:sp>
      <p:sp>
        <p:nvSpPr>
          <p:cNvPr id="4" name="Shape 2"/>
          <p:cNvSpPr/>
          <p:nvPr/>
        </p:nvSpPr>
        <p:spPr>
          <a:xfrm>
            <a:off x="932688" y="1664208"/>
            <a:ext cx="384048" cy="384048"/>
          </a:xfrm>
          <a:prstGeom prst="ellipse">
            <a:avLst/>
          </a:prstGeom>
          <a:solidFill>
            <a:srgbClr val="F2C012"/>
          </a:solidFill>
          <a:ln/>
        </p:spPr>
      </p:sp>
      <p:sp>
        <p:nvSpPr>
          <p:cNvPr id="5" name="Text 3"/>
          <p:cNvSpPr/>
          <p:nvPr/>
        </p:nvSpPr>
        <p:spPr>
          <a:xfrm>
            <a:off x="932688" y="1664208"/>
            <a:ext cx="384048" cy="384048"/>
          </a:xfrm>
          <a:prstGeom prst="rect">
            <a:avLst/>
          </a:prstGeom>
          <a:noFill/>
          <a:ln/>
        </p:spPr>
        <p:txBody>
          <a:bodyPr wrap="square" lIns="0" tIns="0" rIns="0" bIns="0" rtlCol="0" anchor="ctr"/>
          <a:lstStyle/>
          <a:p>
            <a:pPr algn="ctr" indent="0" marL="0">
              <a:buNone/>
            </a:pPr>
            <a:r>
              <a:rPr lang="en-US" sz="1300" b="1" dirty="0">
                <a:solidFill>
                  <a:srgbClr val="1F2428"/>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508760" y="1645920"/>
            <a:ext cx="4297680" cy="411480"/>
          </a:xfrm>
          <a:prstGeom prst="rect">
            <a:avLst/>
          </a:prstGeom>
          <a:noFill/>
          <a:ln/>
        </p:spPr>
        <p:txBody>
          <a:bodyPr wrap="square" lIns="0" tIns="0" rIns="0" bIns="0" rtlCol="0" anchor="ctr"/>
          <a:lstStyle/>
          <a:p>
            <a:pPr indent="0" marL="0">
              <a:buNone/>
            </a:pPr>
            <a:r>
              <a:rPr lang="en-US" sz="1500" b="1" dirty="0">
                <a:solidFill>
                  <a:srgbClr val="F2C012"/>
                </a:solidFill>
                <a:latin typeface="Calibri" pitchFamily="34" charset="0"/>
                <a:ea typeface="Calibri" pitchFamily="34" charset="-122"/>
                <a:cs typeface="Calibri" pitchFamily="34" charset="-120"/>
              </a:rPr>
              <a:t>Put the right thing in the state</a:t>
            </a:r>
            <a:endParaRPr lang="en-US" sz="1500" dirty="0"/>
          </a:p>
        </p:txBody>
      </p:sp>
      <p:sp>
        <p:nvSpPr>
          <p:cNvPr id="7" name="Text 5"/>
          <p:cNvSpPr/>
          <p:nvPr/>
        </p:nvSpPr>
        <p:spPr>
          <a:xfrm>
            <a:off x="932688" y="2194560"/>
            <a:ext cx="4754880" cy="960120"/>
          </a:xfrm>
          <a:prstGeom prst="rect">
            <a:avLst/>
          </a:prstGeom>
          <a:noFill/>
          <a:ln/>
        </p:spPr>
        <p:txBody>
          <a:bodyPr wrap="square" lIns="0" tIns="0" rIns="0" bIns="0" rtlCol="0" anchor="ctr"/>
          <a:lstStyle/>
          <a:p>
            <a:pPr indent="0" marL="0">
              <a:lnSpc>
                <a:spcPts val="1700"/>
              </a:lnSpc>
              <a:buNone/>
            </a:pPr>
            <a:r>
              <a:rPr lang="en-US" sz="1250" dirty="0">
                <a:solidFill>
                  <a:srgbClr val="C7CED6"/>
                </a:solidFill>
                <a:latin typeface="Calibri" pitchFamily="34" charset="0"/>
                <a:ea typeface="Calibri" pitchFamily="34" charset="-122"/>
                <a:cs typeface="Calibri" pitchFamily="34" charset="-120"/>
              </a:rPr>
              <a:t>A path over tiles cannot express a turn. Adding heading to the search state made the command list fall out for free.</a:t>
            </a:r>
            <a:endParaRPr lang="en-US" sz="1250" dirty="0"/>
          </a:p>
        </p:txBody>
      </p:sp>
      <p:sp>
        <p:nvSpPr>
          <p:cNvPr id="8" name="Shape 6"/>
          <p:cNvSpPr/>
          <p:nvPr/>
        </p:nvSpPr>
        <p:spPr>
          <a:xfrm>
            <a:off x="6355080" y="1371600"/>
            <a:ext cx="5349240" cy="1920240"/>
          </a:xfrm>
          <a:prstGeom prst="roundRect">
            <a:avLst>
              <a:gd name="adj" fmla="val 4286"/>
            </a:avLst>
          </a:prstGeom>
          <a:solidFill>
            <a:srgbClr val="2C3238"/>
          </a:solidFill>
          <a:ln w="12700">
            <a:solidFill>
              <a:srgbClr val="2C3238"/>
            </a:solidFill>
            <a:prstDash val="solid"/>
          </a:ln>
        </p:spPr>
      </p:sp>
      <p:sp>
        <p:nvSpPr>
          <p:cNvPr id="9" name="Shape 7"/>
          <p:cNvSpPr/>
          <p:nvPr/>
        </p:nvSpPr>
        <p:spPr>
          <a:xfrm>
            <a:off x="6647688" y="1664208"/>
            <a:ext cx="384048" cy="384048"/>
          </a:xfrm>
          <a:prstGeom prst="ellipse">
            <a:avLst/>
          </a:prstGeom>
          <a:solidFill>
            <a:srgbClr val="F2C012"/>
          </a:solidFill>
          <a:ln/>
        </p:spPr>
      </p:sp>
      <p:sp>
        <p:nvSpPr>
          <p:cNvPr id="10" name="Text 8"/>
          <p:cNvSpPr/>
          <p:nvPr/>
        </p:nvSpPr>
        <p:spPr>
          <a:xfrm>
            <a:off x="6647688" y="1664208"/>
            <a:ext cx="384048" cy="384048"/>
          </a:xfrm>
          <a:prstGeom prst="rect">
            <a:avLst/>
          </a:prstGeom>
          <a:noFill/>
          <a:ln/>
        </p:spPr>
        <p:txBody>
          <a:bodyPr wrap="square" lIns="0" tIns="0" rIns="0" bIns="0" rtlCol="0" anchor="ctr"/>
          <a:lstStyle/>
          <a:p>
            <a:pPr algn="ctr" indent="0" marL="0">
              <a:buNone/>
            </a:pPr>
            <a:r>
              <a:rPr lang="en-US" sz="1300" b="1" dirty="0">
                <a:solidFill>
                  <a:srgbClr val="1F2428"/>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7223760" y="1645920"/>
            <a:ext cx="4297680" cy="411480"/>
          </a:xfrm>
          <a:prstGeom prst="rect">
            <a:avLst/>
          </a:prstGeom>
          <a:noFill/>
          <a:ln/>
        </p:spPr>
        <p:txBody>
          <a:bodyPr wrap="square" lIns="0" tIns="0" rIns="0" bIns="0" rtlCol="0" anchor="ctr"/>
          <a:lstStyle/>
          <a:p>
            <a:pPr indent="0" marL="0">
              <a:buNone/>
            </a:pPr>
            <a:r>
              <a:rPr lang="en-US" sz="1500" b="1" dirty="0">
                <a:solidFill>
                  <a:srgbClr val="F2C012"/>
                </a:solidFill>
                <a:latin typeface="Calibri" pitchFamily="34" charset="0"/>
                <a:ea typeface="Calibri" pitchFamily="34" charset="-122"/>
                <a:cs typeface="Calibri" pitchFamily="34" charset="-120"/>
              </a:rPr>
              <a:t>Prefer a condition you can observe</a:t>
            </a:r>
            <a:endParaRPr lang="en-US" sz="1500" dirty="0"/>
          </a:p>
        </p:txBody>
      </p:sp>
      <p:sp>
        <p:nvSpPr>
          <p:cNvPr id="12" name="Text 10"/>
          <p:cNvSpPr/>
          <p:nvPr/>
        </p:nvSpPr>
        <p:spPr>
          <a:xfrm>
            <a:off x="6647688" y="2194560"/>
            <a:ext cx="4754880" cy="960120"/>
          </a:xfrm>
          <a:prstGeom prst="rect">
            <a:avLst/>
          </a:prstGeom>
          <a:noFill/>
          <a:ln/>
        </p:spPr>
        <p:txBody>
          <a:bodyPr wrap="square" lIns="0" tIns="0" rIns="0" bIns="0" rtlCol="0" anchor="ctr"/>
          <a:lstStyle/>
          <a:p>
            <a:pPr indent="0" marL="0">
              <a:lnSpc>
                <a:spcPts val="1700"/>
              </a:lnSpc>
              <a:buNone/>
            </a:pPr>
            <a:r>
              <a:rPr lang="en-US" sz="1250" dirty="0">
                <a:solidFill>
                  <a:srgbClr val="C7CED6"/>
                </a:solidFill>
                <a:latin typeface="Calibri" pitchFamily="34" charset="0"/>
                <a:ea typeface="Calibri" pitchFamily="34" charset="-122"/>
                <a:cs typeface="Calibri" pitchFamily="34" charset="-120"/>
              </a:rPr>
              <a:t>Turns became reliable the moment rotation ended on seeing a lane rather than on a stopwatch.</a:t>
            </a:r>
            <a:endParaRPr lang="en-US" sz="1250" dirty="0"/>
          </a:p>
        </p:txBody>
      </p:sp>
      <p:sp>
        <p:nvSpPr>
          <p:cNvPr id="13" name="Shape 11"/>
          <p:cNvSpPr/>
          <p:nvPr/>
        </p:nvSpPr>
        <p:spPr>
          <a:xfrm>
            <a:off x="640080" y="3566160"/>
            <a:ext cx="5349240" cy="1920240"/>
          </a:xfrm>
          <a:prstGeom prst="roundRect">
            <a:avLst>
              <a:gd name="adj" fmla="val 4286"/>
            </a:avLst>
          </a:prstGeom>
          <a:solidFill>
            <a:srgbClr val="2C3238"/>
          </a:solidFill>
          <a:ln w="12700">
            <a:solidFill>
              <a:srgbClr val="2C3238"/>
            </a:solidFill>
            <a:prstDash val="solid"/>
          </a:ln>
        </p:spPr>
      </p:sp>
      <p:sp>
        <p:nvSpPr>
          <p:cNvPr id="14" name="Shape 12"/>
          <p:cNvSpPr/>
          <p:nvPr/>
        </p:nvSpPr>
        <p:spPr>
          <a:xfrm>
            <a:off x="932688" y="3858768"/>
            <a:ext cx="384048" cy="384048"/>
          </a:xfrm>
          <a:prstGeom prst="ellipse">
            <a:avLst/>
          </a:prstGeom>
          <a:solidFill>
            <a:srgbClr val="F2C012"/>
          </a:solidFill>
          <a:ln/>
        </p:spPr>
      </p:sp>
      <p:sp>
        <p:nvSpPr>
          <p:cNvPr id="15" name="Text 13"/>
          <p:cNvSpPr/>
          <p:nvPr/>
        </p:nvSpPr>
        <p:spPr>
          <a:xfrm>
            <a:off x="932688" y="3858768"/>
            <a:ext cx="384048" cy="384048"/>
          </a:xfrm>
          <a:prstGeom prst="rect">
            <a:avLst/>
          </a:prstGeom>
          <a:noFill/>
          <a:ln/>
        </p:spPr>
        <p:txBody>
          <a:bodyPr wrap="square" lIns="0" tIns="0" rIns="0" bIns="0" rtlCol="0" anchor="ctr"/>
          <a:lstStyle/>
          <a:p>
            <a:pPr algn="ctr" indent="0" marL="0">
              <a:buNone/>
            </a:pPr>
            <a:r>
              <a:rPr lang="en-US" sz="1300" b="1" dirty="0">
                <a:solidFill>
                  <a:srgbClr val="1F2428"/>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508760" y="3840480"/>
            <a:ext cx="4297680" cy="411480"/>
          </a:xfrm>
          <a:prstGeom prst="rect">
            <a:avLst/>
          </a:prstGeom>
          <a:noFill/>
          <a:ln/>
        </p:spPr>
        <p:txBody>
          <a:bodyPr wrap="square" lIns="0" tIns="0" rIns="0" bIns="0" rtlCol="0" anchor="ctr"/>
          <a:lstStyle/>
          <a:p>
            <a:pPr indent="0" marL="0">
              <a:buNone/>
            </a:pPr>
            <a:r>
              <a:rPr lang="en-US" sz="1500" b="1" dirty="0">
                <a:solidFill>
                  <a:srgbClr val="F2C012"/>
                </a:solidFill>
                <a:latin typeface="Calibri" pitchFamily="34" charset="0"/>
                <a:ea typeface="Calibri" pitchFamily="34" charset="-122"/>
                <a:cs typeface="Calibri" pitchFamily="34" charset="-120"/>
              </a:rPr>
              <a:t>Check the measurement before the algorithm</a:t>
            </a:r>
            <a:endParaRPr lang="en-US" sz="1500" dirty="0"/>
          </a:p>
        </p:txBody>
      </p:sp>
      <p:sp>
        <p:nvSpPr>
          <p:cNvPr id="17" name="Text 15"/>
          <p:cNvSpPr/>
          <p:nvPr/>
        </p:nvSpPr>
        <p:spPr>
          <a:xfrm>
            <a:off x="932688" y="4389120"/>
            <a:ext cx="4754880" cy="960120"/>
          </a:xfrm>
          <a:prstGeom prst="rect">
            <a:avLst/>
          </a:prstGeom>
          <a:noFill/>
          <a:ln/>
        </p:spPr>
        <p:txBody>
          <a:bodyPr wrap="square" lIns="0" tIns="0" rIns="0" bIns="0" rtlCol="0" anchor="ctr"/>
          <a:lstStyle/>
          <a:p>
            <a:pPr indent="0" marL="0">
              <a:lnSpc>
                <a:spcPts val="1700"/>
              </a:lnSpc>
              <a:buNone/>
            </a:pPr>
            <a:r>
              <a:rPr lang="en-US" sz="1250" dirty="0">
                <a:solidFill>
                  <a:srgbClr val="C7CED6"/>
                </a:solidFill>
                <a:latin typeface="Calibri" pitchFamily="34" charset="0"/>
                <a:ea typeface="Calibri" pitchFamily="34" charset="-122"/>
                <a:cs typeface="Calibri" pitchFamily="34" charset="-120"/>
              </a:rPr>
              <a:t>No amount of threshold tuning fixes a reading that is not stable. Changing sensor solved in one step what three detectors could not.</a:t>
            </a:r>
            <a:endParaRPr lang="en-US" sz="1250" dirty="0"/>
          </a:p>
        </p:txBody>
      </p:sp>
      <p:sp>
        <p:nvSpPr>
          <p:cNvPr id="18" name="Shape 16"/>
          <p:cNvSpPr/>
          <p:nvPr/>
        </p:nvSpPr>
        <p:spPr>
          <a:xfrm>
            <a:off x="6355080" y="3566160"/>
            <a:ext cx="5349240" cy="1920240"/>
          </a:xfrm>
          <a:prstGeom prst="roundRect">
            <a:avLst>
              <a:gd name="adj" fmla="val 4286"/>
            </a:avLst>
          </a:prstGeom>
          <a:solidFill>
            <a:srgbClr val="2C3238"/>
          </a:solidFill>
          <a:ln w="12700">
            <a:solidFill>
              <a:srgbClr val="2C3238"/>
            </a:solidFill>
            <a:prstDash val="solid"/>
          </a:ln>
        </p:spPr>
      </p:sp>
      <p:sp>
        <p:nvSpPr>
          <p:cNvPr id="19" name="Shape 17"/>
          <p:cNvSpPr/>
          <p:nvPr/>
        </p:nvSpPr>
        <p:spPr>
          <a:xfrm>
            <a:off x="6647688" y="3858768"/>
            <a:ext cx="384048" cy="384048"/>
          </a:xfrm>
          <a:prstGeom prst="ellipse">
            <a:avLst/>
          </a:prstGeom>
          <a:solidFill>
            <a:srgbClr val="F2C012"/>
          </a:solidFill>
          <a:ln/>
        </p:spPr>
      </p:sp>
      <p:sp>
        <p:nvSpPr>
          <p:cNvPr id="20" name="Text 18"/>
          <p:cNvSpPr/>
          <p:nvPr/>
        </p:nvSpPr>
        <p:spPr>
          <a:xfrm>
            <a:off x="6647688" y="3858768"/>
            <a:ext cx="384048" cy="384048"/>
          </a:xfrm>
          <a:prstGeom prst="rect">
            <a:avLst/>
          </a:prstGeom>
          <a:noFill/>
          <a:ln/>
        </p:spPr>
        <p:txBody>
          <a:bodyPr wrap="square" lIns="0" tIns="0" rIns="0" bIns="0" rtlCol="0" anchor="ctr"/>
          <a:lstStyle/>
          <a:p>
            <a:pPr algn="ctr" indent="0" marL="0">
              <a:buNone/>
            </a:pPr>
            <a:r>
              <a:rPr lang="en-US" sz="1300" b="1" dirty="0">
                <a:solidFill>
                  <a:srgbClr val="1F2428"/>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7223760" y="3840480"/>
            <a:ext cx="4297680" cy="411480"/>
          </a:xfrm>
          <a:prstGeom prst="rect">
            <a:avLst/>
          </a:prstGeom>
          <a:noFill/>
          <a:ln/>
        </p:spPr>
        <p:txBody>
          <a:bodyPr wrap="square" lIns="0" tIns="0" rIns="0" bIns="0" rtlCol="0" anchor="ctr"/>
          <a:lstStyle/>
          <a:p>
            <a:pPr indent="0" marL="0">
              <a:buNone/>
            </a:pPr>
            <a:r>
              <a:rPr lang="en-US" sz="1500" b="1" dirty="0">
                <a:solidFill>
                  <a:srgbClr val="F2C012"/>
                </a:solidFill>
                <a:latin typeface="Calibri" pitchFamily="34" charset="0"/>
                <a:ea typeface="Calibri" pitchFamily="34" charset="-122"/>
                <a:cs typeface="Calibri" pitchFamily="34" charset="-120"/>
              </a:rPr>
              <a:t>A fix must not endanger what works</a:t>
            </a:r>
            <a:endParaRPr lang="en-US" sz="1500" dirty="0"/>
          </a:p>
        </p:txBody>
      </p:sp>
      <p:sp>
        <p:nvSpPr>
          <p:cNvPr id="22" name="Text 20"/>
          <p:cNvSpPr/>
          <p:nvPr/>
        </p:nvSpPr>
        <p:spPr>
          <a:xfrm>
            <a:off x="6647688" y="4389120"/>
            <a:ext cx="4754880" cy="960120"/>
          </a:xfrm>
          <a:prstGeom prst="rect">
            <a:avLst/>
          </a:prstGeom>
          <a:noFill/>
          <a:ln/>
        </p:spPr>
        <p:txBody>
          <a:bodyPr wrap="square" lIns="0" tIns="0" rIns="0" bIns="0" rtlCol="0" anchor="ctr"/>
          <a:lstStyle/>
          <a:p>
            <a:pPr indent="0" marL="0">
              <a:lnSpc>
                <a:spcPts val="1700"/>
              </a:lnSpc>
              <a:buNone/>
            </a:pPr>
            <a:r>
              <a:rPr lang="en-US" sz="1250" dirty="0">
                <a:solidFill>
                  <a:srgbClr val="C7CED6"/>
                </a:solidFill>
                <a:latin typeface="Calibri" pitchFamily="34" charset="0"/>
                <a:ea typeface="Calibri" pitchFamily="34" charset="-122"/>
                <a:cs typeface="Calibri" pitchFamily="34" charset="-120"/>
              </a:rPr>
              <a:t>The camera detector broke lane following. Its replacement was deliberately kept out of the vision path.</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15181D"/>
                </a:solidFill>
                <a:latin typeface="Cambria" pitchFamily="34" charset="0"/>
                <a:ea typeface="Cambria" pitchFamily="34" charset="-122"/>
                <a:cs typeface="Cambria" pitchFamily="34" charset="-120"/>
              </a:rPr>
              <a:t>Limits, and what comes next</a:t>
            </a:r>
            <a:endParaRPr lang="en-US" sz="3400" dirty="0"/>
          </a:p>
        </p:txBody>
      </p:sp>
      <p:sp>
        <p:nvSpPr>
          <p:cNvPr id="3" name="Shape 1"/>
          <p:cNvSpPr/>
          <p:nvPr/>
        </p:nvSpPr>
        <p:spPr>
          <a:xfrm>
            <a:off x="640080" y="1371600"/>
            <a:ext cx="5486400" cy="4343400"/>
          </a:xfrm>
          <a:prstGeom prst="roundRect">
            <a:avLst>
              <a:gd name="adj" fmla="val 1895"/>
            </a:avLst>
          </a:prstGeom>
          <a:solidFill>
            <a:srgbClr val="F4F5F6"/>
          </a:solidFill>
          <a:ln w="12700">
            <a:solidFill>
              <a:srgbClr val="F4F5F6"/>
            </a:solidFill>
            <a:prstDash val="solid"/>
          </a:ln>
        </p:spPr>
      </p:sp>
      <p:sp>
        <p:nvSpPr>
          <p:cNvPr id="4" name="Text 2"/>
          <p:cNvSpPr/>
          <p:nvPr/>
        </p:nvSpPr>
        <p:spPr>
          <a:xfrm>
            <a:off x="914400" y="1572768"/>
            <a:ext cx="4937760" cy="365760"/>
          </a:xfrm>
          <a:prstGeom prst="rect">
            <a:avLst/>
          </a:prstGeom>
          <a:noFill/>
          <a:ln/>
        </p:spPr>
        <p:txBody>
          <a:bodyPr wrap="square" lIns="0" tIns="0" rIns="0" bIns="0" rtlCol="0" anchor="ctr"/>
          <a:lstStyle/>
          <a:p>
            <a:pPr indent="0" marL="0">
              <a:buNone/>
            </a:pPr>
            <a:r>
              <a:rPr lang="en-US" sz="1600" b="1" dirty="0">
                <a:solidFill>
                  <a:srgbClr val="D93A2E"/>
                </a:solidFill>
                <a:latin typeface="Calibri" pitchFamily="34" charset="0"/>
                <a:ea typeface="Calibri" pitchFamily="34" charset="-122"/>
                <a:cs typeface="Calibri" pitchFamily="34" charset="-120"/>
              </a:rPr>
              <a:t>Known limits</a:t>
            </a:r>
            <a:endParaRPr lang="en-US" sz="1600" dirty="0"/>
          </a:p>
        </p:txBody>
      </p:sp>
      <p:sp>
        <p:nvSpPr>
          <p:cNvPr id="5" name="Text 3"/>
          <p:cNvSpPr/>
          <p:nvPr/>
        </p:nvSpPr>
        <p:spPr>
          <a:xfrm>
            <a:off x="914400" y="2011680"/>
            <a:ext cx="4937760" cy="3474720"/>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300" dirty="0">
                <a:solidFill>
                  <a:srgbClr val="6B7480"/>
                </a:solidFill>
                <a:latin typeface="Calibri" pitchFamily="34" charset="0"/>
                <a:ea typeface="Calibri" pitchFamily="34" charset="-122"/>
                <a:cs typeface="Calibri" pitchFamily="34" charset="-120"/>
              </a:rPr>
              <a:t>The robot stays in sync with the plan by counting red stop lines. One missed line makes every later turn wrong.</a:t>
            </a:r>
            <a:endParaRPr lang="en-US" sz="1300" dirty="0"/>
          </a:p>
          <a:p>
            <a:pPr marL="342900" indent="-342900">
              <a:lnSpc>
                <a:spcPts val="1800"/>
              </a:lnSpc>
              <a:spcAft>
                <a:spcPts val="1100"/>
              </a:spcAft>
              <a:buSzPct val="100000"/>
              <a:buChar char="•"/>
            </a:pPr>
            <a:r>
              <a:rPr lang="en-US" sz="1300" dirty="0">
                <a:solidFill>
                  <a:srgbClr val="6B7480"/>
                </a:solidFill>
                <a:latin typeface="Calibri" pitchFamily="34" charset="0"/>
                <a:ea typeface="Calibri" pitchFamily="34" charset="-122"/>
                <a:cs typeface="Calibri" pitchFamily="34" charset="-120"/>
              </a:rPr>
              <a:t>Stop lines are ignored during a swerve, so an obstacle must not sit right before a junction.</a:t>
            </a:r>
            <a:endParaRPr lang="en-US" sz="1300" dirty="0"/>
          </a:p>
          <a:p>
            <a:pPr marL="342900" indent="-342900">
              <a:lnSpc>
                <a:spcPts val="1800"/>
              </a:lnSpc>
              <a:spcAft>
                <a:spcPts val="1100"/>
              </a:spcAft>
              <a:buSzPct val="100000"/>
              <a:buChar char="•"/>
            </a:pPr>
            <a:r>
              <a:rPr lang="en-US" sz="1300" dirty="0">
                <a:solidFill>
                  <a:srgbClr val="6B7480"/>
                </a:solidFill>
                <a:latin typeface="Calibri" pitchFamily="34" charset="0"/>
                <a:ea typeface="Calibri" pitchFamily="34" charset="-122"/>
                <a:cs typeface="Calibri" pitchFamily="34" charset="-120"/>
              </a:rPr>
              <a:t>Colour thresholds depend on the lab lighting and are re-tuned with a slider tool.</a:t>
            </a:r>
            <a:endParaRPr lang="en-US" sz="1300" dirty="0"/>
          </a:p>
          <a:p>
            <a:pPr marL="342900" indent="-342900">
              <a:lnSpc>
                <a:spcPts val="1800"/>
              </a:lnSpc>
              <a:spcAft>
                <a:spcPts val="1100"/>
              </a:spcAft>
              <a:buSzPct val="100000"/>
              <a:buChar char="•"/>
            </a:pPr>
            <a:r>
              <a:rPr lang="en-US" sz="1300" dirty="0">
                <a:solidFill>
                  <a:srgbClr val="6B7480"/>
                </a:solidFill>
                <a:latin typeface="Calibri" pitchFamily="34" charset="0"/>
                <a:ea typeface="Calibri" pitchFamily="34" charset="-122"/>
                <a:cs typeface="Calibri" pitchFamily="34" charset="-120"/>
              </a:rPr>
              <a:t>The robot's base software is newer than the course release, so the official demo will not run on it. Our stack bypasses it entirely.</a:t>
            </a:r>
            <a:endParaRPr lang="en-US" sz="1300" dirty="0"/>
          </a:p>
        </p:txBody>
      </p:sp>
      <p:sp>
        <p:nvSpPr>
          <p:cNvPr id="6" name="Shape 4"/>
          <p:cNvSpPr/>
          <p:nvPr/>
        </p:nvSpPr>
        <p:spPr>
          <a:xfrm>
            <a:off x="6492240" y="1371600"/>
            <a:ext cx="5029200" cy="4343400"/>
          </a:xfrm>
          <a:prstGeom prst="roundRect">
            <a:avLst>
              <a:gd name="adj" fmla="val 1895"/>
            </a:avLst>
          </a:prstGeom>
          <a:solidFill>
            <a:srgbClr val="1F2428"/>
          </a:solidFill>
          <a:ln w="12700">
            <a:solidFill>
              <a:srgbClr val="1F2428"/>
            </a:solidFill>
            <a:prstDash val="solid"/>
          </a:ln>
        </p:spPr>
      </p:sp>
      <p:sp>
        <p:nvSpPr>
          <p:cNvPr id="7" name="Text 5"/>
          <p:cNvSpPr/>
          <p:nvPr/>
        </p:nvSpPr>
        <p:spPr>
          <a:xfrm>
            <a:off x="6766560" y="1572768"/>
            <a:ext cx="4480560" cy="365760"/>
          </a:xfrm>
          <a:prstGeom prst="rect">
            <a:avLst/>
          </a:prstGeom>
          <a:noFill/>
          <a:ln/>
        </p:spPr>
        <p:txBody>
          <a:bodyPr wrap="square" lIns="0" tIns="0" rIns="0" bIns="0" rtlCol="0" anchor="ctr"/>
          <a:lstStyle/>
          <a:p>
            <a:pPr indent="0" marL="0">
              <a:buNone/>
            </a:pPr>
            <a:r>
              <a:rPr lang="en-US" sz="1600" b="1" dirty="0">
                <a:solidFill>
                  <a:srgbClr val="F2C012"/>
                </a:solidFill>
                <a:latin typeface="Calibri" pitchFamily="34" charset="0"/>
                <a:ea typeface="Calibri" pitchFamily="34" charset="-122"/>
                <a:cs typeface="Calibri" pitchFamily="34" charset="-120"/>
              </a:rPr>
              <a:t>Next steps</a:t>
            </a:r>
            <a:endParaRPr lang="en-US" sz="1600" dirty="0"/>
          </a:p>
        </p:txBody>
      </p:sp>
      <p:sp>
        <p:nvSpPr>
          <p:cNvPr id="8" name="Shape 6"/>
          <p:cNvSpPr/>
          <p:nvPr/>
        </p:nvSpPr>
        <p:spPr>
          <a:xfrm>
            <a:off x="6766560" y="2148840"/>
            <a:ext cx="365760" cy="365760"/>
          </a:xfrm>
          <a:prstGeom prst="ellipse">
            <a:avLst/>
          </a:prstGeom>
          <a:solidFill>
            <a:srgbClr val="F2C012"/>
          </a:solidFill>
          <a:ln/>
        </p:spPr>
      </p:sp>
      <p:sp>
        <p:nvSpPr>
          <p:cNvPr id="9" name="Text 7"/>
          <p:cNvSpPr/>
          <p:nvPr/>
        </p:nvSpPr>
        <p:spPr>
          <a:xfrm>
            <a:off x="6766560" y="2148840"/>
            <a:ext cx="365760" cy="365760"/>
          </a:xfrm>
          <a:prstGeom prst="rect">
            <a:avLst/>
          </a:prstGeom>
          <a:noFill/>
          <a:ln/>
        </p:spPr>
        <p:txBody>
          <a:bodyPr wrap="square" lIns="0" tIns="0" rIns="0" bIns="0" rtlCol="0" anchor="ctr"/>
          <a:lstStyle/>
          <a:p>
            <a:pPr algn="ctr" indent="0" marL="0">
              <a:buNone/>
            </a:pPr>
            <a:r>
              <a:rPr lang="en-US" sz="1300" b="1" dirty="0">
                <a:solidFill>
                  <a:srgbClr val="1F2428"/>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7269480" y="2084832"/>
            <a:ext cx="4023360" cy="960120"/>
          </a:xfrm>
          <a:prstGeom prst="rect">
            <a:avLst/>
          </a:prstGeom>
          <a:noFill/>
          <a:ln/>
        </p:spPr>
        <p:txBody>
          <a:bodyPr wrap="square" lIns="0" tIns="0" rIns="0" bIns="0" rtlCol="0" anchor="ctr"/>
          <a:lstStyle/>
          <a:p>
            <a:pPr indent="0" marL="0">
              <a:lnSpc>
                <a:spcPts val="1800"/>
              </a:lnSpc>
              <a:buNone/>
            </a:pPr>
            <a:r>
              <a:rPr lang="en-US" sz="1300" dirty="0">
                <a:solidFill>
                  <a:srgbClr val="C7CED6"/>
                </a:solidFill>
                <a:latin typeface="Calibri" pitchFamily="34" charset="0"/>
                <a:ea typeface="Calibri" pitchFamily="34" charset="-122"/>
                <a:cs typeface="Calibri" pitchFamily="34" charset="-120"/>
              </a:rPr>
              <a:t>AprilTags at each junction, so the robot knows which intersection it is at instead of counting</a:t>
            </a:r>
            <a:endParaRPr lang="en-US" sz="1300" dirty="0"/>
          </a:p>
        </p:txBody>
      </p:sp>
      <p:sp>
        <p:nvSpPr>
          <p:cNvPr id="11" name="Shape 9"/>
          <p:cNvSpPr/>
          <p:nvPr/>
        </p:nvSpPr>
        <p:spPr>
          <a:xfrm>
            <a:off x="6766560" y="3337560"/>
            <a:ext cx="365760" cy="365760"/>
          </a:xfrm>
          <a:prstGeom prst="ellipse">
            <a:avLst/>
          </a:prstGeom>
          <a:solidFill>
            <a:srgbClr val="F2C012"/>
          </a:solidFill>
          <a:ln/>
        </p:spPr>
      </p:sp>
      <p:sp>
        <p:nvSpPr>
          <p:cNvPr id="12" name="Text 10"/>
          <p:cNvSpPr/>
          <p:nvPr/>
        </p:nvSpPr>
        <p:spPr>
          <a:xfrm>
            <a:off x="6766560" y="3337560"/>
            <a:ext cx="365760" cy="365760"/>
          </a:xfrm>
          <a:prstGeom prst="rect">
            <a:avLst/>
          </a:prstGeom>
          <a:noFill/>
          <a:ln/>
        </p:spPr>
        <p:txBody>
          <a:bodyPr wrap="square" lIns="0" tIns="0" rIns="0" bIns="0" rtlCol="0" anchor="ctr"/>
          <a:lstStyle/>
          <a:p>
            <a:pPr algn="ctr" indent="0" marL="0">
              <a:buNone/>
            </a:pPr>
            <a:r>
              <a:rPr lang="en-US" sz="1300" b="1" dirty="0">
                <a:solidFill>
                  <a:srgbClr val="1F2428"/>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7269480" y="3273552"/>
            <a:ext cx="4023360" cy="960120"/>
          </a:xfrm>
          <a:prstGeom prst="rect">
            <a:avLst/>
          </a:prstGeom>
          <a:noFill/>
          <a:ln/>
        </p:spPr>
        <p:txBody>
          <a:bodyPr wrap="square" lIns="0" tIns="0" rIns="0" bIns="0" rtlCol="0" anchor="ctr"/>
          <a:lstStyle/>
          <a:p>
            <a:pPr indent="0" marL="0">
              <a:lnSpc>
                <a:spcPts val="1800"/>
              </a:lnSpc>
              <a:buNone/>
            </a:pPr>
            <a:r>
              <a:rPr lang="en-US" sz="1300" dirty="0">
                <a:solidFill>
                  <a:srgbClr val="C7CED6"/>
                </a:solidFill>
                <a:latin typeface="Calibri" pitchFamily="34" charset="0"/>
                <a:ea typeface="Calibri" pitchFamily="34" charset="-122"/>
                <a:cs typeface="Calibri" pitchFamily="34" charset="-120"/>
              </a:rPr>
              <a:t>Use the range sensor for a stop-and-wait behaviour as well as a swerve</a:t>
            </a:r>
            <a:endParaRPr lang="en-US" sz="1300" dirty="0"/>
          </a:p>
        </p:txBody>
      </p:sp>
      <p:sp>
        <p:nvSpPr>
          <p:cNvPr id="14" name="Shape 12"/>
          <p:cNvSpPr/>
          <p:nvPr/>
        </p:nvSpPr>
        <p:spPr>
          <a:xfrm>
            <a:off x="6766560" y="4526280"/>
            <a:ext cx="365760" cy="365760"/>
          </a:xfrm>
          <a:prstGeom prst="ellipse">
            <a:avLst/>
          </a:prstGeom>
          <a:solidFill>
            <a:srgbClr val="F2C012"/>
          </a:solidFill>
          <a:ln/>
        </p:spPr>
      </p:sp>
      <p:sp>
        <p:nvSpPr>
          <p:cNvPr id="15" name="Text 13"/>
          <p:cNvSpPr/>
          <p:nvPr/>
        </p:nvSpPr>
        <p:spPr>
          <a:xfrm>
            <a:off x="6766560" y="4526280"/>
            <a:ext cx="365760" cy="365760"/>
          </a:xfrm>
          <a:prstGeom prst="rect">
            <a:avLst/>
          </a:prstGeom>
          <a:noFill/>
          <a:ln/>
        </p:spPr>
        <p:txBody>
          <a:bodyPr wrap="square" lIns="0" tIns="0" rIns="0" bIns="0" rtlCol="0" anchor="ctr"/>
          <a:lstStyle/>
          <a:p>
            <a:pPr algn="ctr" indent="0" marL="0">
              <a:buNone/>
            </a:pPr>
            <a:r>
              <a:rPr lang="en-US" sz="1300" b="1" dirty="0">
                <a:solidFill>
                  <a:srgbClr val="1F2428"/>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7269480" y="4462272"/>
            <a:ext cx="4023360" cy="960120"/>
          </a:xfrm>
          <a:prstGeom prst="rect">
            <a:avLst/>
          </a:prstGeom>
          <a:noFill/>
          <a:ln/>
        </p:spPr>
        <p:txBody>
          <a:bodyPr wrap="square" lIns="0" tIns="0" rIns="0" bIns="0" rtlCol="0" anchor="ctr"/>
          <a:lstStyle/>
          <a:p>
            <a:pPr indent="0" marL="0">
              <a:lnSpc>
                <a:spcPts val="1800"/>
              </a:lnSpc>
              <a:buNone/>
            </a:pPr>
            <a:r>
              <a:rPr lang="en-US" sz="1300" dirty="0">
                <a:solidFill>
                  <a:srgbClr val="C7CED6"/>
                </a:solidFill>
                <a:latin typeface="Calibri" pitchFamily="34" charset="0"/>
                <a:ea typeface="Calibri" pitchFamily="34" charset="-122"/>
                <a:cs typeface="Calibri" pitchFamily="34" charset="-120"/>
              </a:rPr>
              <a:t>Close the loop on turns with the wheel encoders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428"/>
        </a:solidFill>
      </p:bgPr>
    </p:bg>
    <p:spTree>
      <p:nvGrpSpPr>
        <p:cNvPr id="1" name=""/>
        <p:cNvGrpSpPr/>
        <p:nvPr/>
      </p:nvGrpSpPr>
      <p:grpSpPr>
        <a:xfrm>
          <a:off x="0" y="0"/>
          <a:ext cx="0" cy="0"/>
          <a:chOff x="0" y="0"/>
          <a:chExt cx="0" cy="0"/>
        </a:xfrm>
      </p:grpSpPr>
      <p:sp>
        <p:nvSpPr>
          <p:cNvPr id="2" name="Shape 0"/>
          <p:cNvSpPr/>
          <p:nvPr/>
        </p:nvSpPr>
        <p:spPr>
          <a:xfrm>
            <a:off x="640080" y="4206240"/>
            <a:ext cx="777240" cy="100584"/>
          </a:xfrm>
          <a:prstGeom prst="rect">
            <a:avLst/>
          </a:prstGeom>
          <a:solidFill>
            <a:srgbClr val="F2C012"/>
          </a:solidFill>
          <a:ln/>
        </p:spPr>
      </p:sp>
      <p:sp>
        <p:nvSpPr>
          <p:cNvPr id="3" name="Shape 1"/>
          <p:cNvSpPr/>
          <p:nvPr/>
        </p:nvSpPr>
        <p:spPr>
          <a:xfrm>
            <a:off x="1965960" y="4206240"/>
            <a:ext cx="777240" cy="100584"/>
          </a:xfrm>
          <a:prstGeom prst="rect">
            <a:avLst/>
          </a:prstGeom>
          <a:solidFill>
            <a:srgbClr val="F2C012"/>
          </a:solidFill>
          <a:ln/>
        </p:spPr>
      </p:sp>
      <p:sp>
        <p:nvSpPr>
          <p:cNvPr id="4" name="Shape 2"/>
          <p:cNvSpPr/>
          <p:nvPr/>
        </p:nvSpPr>
        <p:spPr>
          <a:xfrm>
            <a:off x="3291840" y="4206240"/>
            <a:ext cx="777240" cy="100584"/>
          </a:xfrm>
          <a:prstGeom prst="rect">
            <a:avLst/>
          </a:prstGeom>
          <a:solidFill>
            <a:srgbClr val="F2C012"/>
          </a:solidFill>
          <a:ln/>
        </p:spPr>
      </p:sp>
      <p:sp>
        <p:nvSpPr>
          <p:cNvPr id="5" name="Shape 3"/>
          <p:cNvSpPr/>
          <p:nvPr/>
        </p:nvSpPr>
        <p:spPr>
          <a:xfrm>
            <a:off x="4617720" y="4206240"/>
            <a:ext cx="777240" cy="100584"/>
          </a:xfrm>
          <a:prstGeom prst="rect">
            <a:avLst/>
          </a:prstGeom>
          <a:solidFill>
            <a:srgbClr val="F2C012"/>
          </a:solidFill>
          <a:ln/>
        </p:spPr>
      </p:sp>
      <p:sp>
        <p:nvSpPr>
          <p:cNvPr id="6" name="Shape 4"/>
          <p:cNvSpPr/>
          <p:nvPr/>
        </p:nvSpPr>
        <p:spPr>
          <a:xfrm>
            <a:off x="5943600" y="4206240"/>
            <a:ext cx="777240" cy="100584"/>
          </a:xfrm>
          <a:prstGeom prst="rect">
            <a:avLst/>
          </a:prstGeom>
          <a:solidFill>
            <a:srgbClr val="F2C012"/>
          </a:solidFill>
          <a:ln/>
        </p:spPr>
      </p:sp>
      <p:sp>
        <p:nvSpPr>
          <p:cNvPr id="7" name="Shape 5"/>
          <p:cNvSpPr/>
          <p:nvPr/>
        </p:nvSpPr>
        <p:spPr>
          <a:xfrm>
            <a:off x="7269480" y="4206240"/>
            <a:ext cx="777240" cy="100584"/>
          </a:xfrm>
          <a:prstGeom prst="rect">
            <a:avLst/>
          </a:prstGeom>
          <a:solidFill>
            <a:srgbClr val="F2C012"/>
          </a:solidFill>
          <a:ln/>
        </p:spPr>
      </p:sp>
      <p:sp>
        <p:nvSpPr>
          <p:cNvPr id="8" name="Shape 6"/>
          <p:cNvSpPr/>
          <p:nvPr/>
        </p:nvSpPr>
        <p:spPr>
          <a:xfrm>
            <a:off x="8595360" y="4206240"/>
            <a:ext cx="777240" cy="100584"/>
          </a:xfrm>
          <a:prstGeom prst="rect">
            <a:avLst/>
          </a:prstGeom>
          <a:solidFill>
            <a:srgbClr val="F2C012"/>
          </a:solidFill>
          <a:ln/>
        </p:spPr>
      </p:sp>
      <p:sp>
        <p:nvSpPr>
          <p:cNvPr id="9" name="Shape 7"/>
          <p:cNvSpPr/>
          <p:nvPr/>
        </p:nvSpPr>
        <p:spPr>
          <a:xfrm>
            <a:off x="9921240" y="4206240"/>
            <a:ext cx="777240" cy="100584"/>
          </a:xfrm>
          <a:prstGeom prst="rect">
            <a:avLst/>
          </a:prstGeom>
          <a:solidFill>
            <a:srgbClr val="F2C012"/>
          </a:solidFill>
          <a:ln/>
        </p:spPr>
      </p:sp>
      <p:sp>
        <p:nvSpPr>
          <p:cNvPr id="10" name="Shape 8"/>
          <p:cNvSpPr/>
          <p:nvPr/>
        </p:nvSpPr>
        <p:spPr>
          <a:xfrm>
            <a:off x="11247120" y="4206240"/>
            <a:ext cx="777240" cy="100584"/>
          </a:xfrm>
          <a:prstGeom prst="rect">
            <a:avLst/>
          </a:prstGeom>
          <a:solidFill>
            <a:srgbClr val="F2C012"/>
          </a:solidFill>
          <a:ln/>
        </p:spPr>
      </p:sp>
      <p:sp>
        <p:nvSpPr>
          <p:cNvPr id="11" name="Text 9"/>
          <p:cNvSpPr/>
          <p:nvPr/>
        </p:nvSpPr>
        <p:spPr>
          <a:xfrm>
            <a:off x="640080" y="2286000"/>
            <a:ext cx="1051560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Two clicks to a route</a:t>
            </a:r>
            <a:endParaRPr lang="en-US" sz="4200" dirty="0"/>
          </a:p>
        </p:txBody>
      </p:sp>
      <p:sp>
        <p:nvSpPr>
          <p:cNvPr id="12" name="Text 10"/>
          <p:cNvSpPr/>
          <p:nvPr/>
        </p:nvSpPr>
        <p:spPr>
          <a:xfrm>
            <a:off x="640080" y="3200400"/>
            <a:ext cx="10515600" cy="457200"/>
          </a:xfrm>
          <a:prstGeom prst="rect">
            <a:avLst/>
          </a:prstGeom>
          <a:noFill/>
          <a:ln/>
        </p:spPr>
        <p:txBody>
          <a:bodyPr wrap="square" lIns="0" tIns="0" rIns="0" bIns="0" rtlCol="0" anchor="ctr"/>
          <a:lstStyle/>
          <a:p>
            <a:pPr indent="0" marL="0">
              <a:buNone/>
            </a:pPr>
            <a:r>
              <a:rPr lang="en-US" sz="1900" dirty="0">
                <a:solidFill>
                  <a:srgbClr val="F2C012"/>
                </a:solidFill>
                <a:latin typeface="Calibri" pitchFamily="34" charset="0"/>
                <a:ea typeface="Calibri" pitchFamily="34" charset="-122"/>
                <a:cs typeface="Calibri" pitchFamily="34" charset="-120"/>
              </a:rPr>
              <a:t>Plan, follow, turn, avoid, arrive.</a:t>
            </a:r>
            <a:endParaRPr lang="en-US" sz="1900" dirty="0"/>
          </a:p>
        </p:txBody>
      </p:sp>
      <p:sp>
        <p:nvSpPr>
          <p:cNvPr id="13" name="Text 11"/>
          <p:cNvSpPr/>
          <p:nvPr/>
        </p:nvSpPr>
        <p:spPr>
          <a:xfrm>
            <a:off x="640080" y="4846320"/>
            <a:ext cx="10515600" cy="457200"/>
          </a:xfrm>
          <a:prstGeom prst="rect">
            <a:avLst/>
          </a:prstGeom>
          <a:noFill/>
          <a:ln/>
        </p:spPr>
        <p:txBody>
          <a:bodyPr wrap="square" lIns="0" tIns="0" rIns="0" bIns="0" rtlCol="0" anchor="ctr"/>
          <a:lstStyle/>
          <a:p>
            <a:pPr indent="0" marL="0">
              <a:buNone/>
            </a:pPr>
            <a:r>
              <a:rPr lang="en-US" sz="1500" dirty="0">
                <a:solidFill>
                  <a:srgbClr val="A9B2BD"/>
                </a:solidFill>
                <a:latin typeface="Calibri" pitchFamily="34" charset="0"/>
                <a:ea typeface="Calibri" pitchFamily="34" charset="-122"/>
                <a:cs typeface="Calibri" pitchFamily="34" charset="-120"/>
              </a:rPr>
              <a:t>Questions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2026-08-18T14:32:23Z</dcterms:created>
  <dcterms:modified xsi:type="dcterms:W3CDTF">2026-08-18T14:32:23Z</dcterms:modified>
</cp:coreProperties>
</file>